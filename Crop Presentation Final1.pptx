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330" r:id="rId4"/>
    <p:sldId id="258" r:id="rId5"/>
    <p:sldId id="259" r:id="rId6"/>
    <p:sldId id="262" r:id="rId7"/>
    <p:sldId id="263" r:id="rId8"/>
    <p:sldId id="349" r:id="rId9"/>
    <p:sldId id="265" r:id="rId10"/>
    <p:sldId id="269" r:id="rId11"/>
    <p:sldId id="267" r:id="rId12"/>
    <p:sldId id="351" r:id="rId13"/>
    <p:sldId id="272" r:id="rId14"/>
    <p:sldId id="276" r:id="rId15"/>
    <p:sldId id="277" r:id="rId16"/>
    <p:sldId id="284" r:id="rId17"/>
    <p:sldId id="331" r:id="rId18"/>
    <p:sldId id="352" r:id="rId19"/>
    <p:sldId id="353" r:id="rId20"/>
    <p:sldId id="354" r:id="rId21"/>
    <p:sldId id="355" r:id="rId22"/>
    <p:sldId id="356" r:id="rId23"/>
    <p:sldId id="357" r:id="rId24"/>
    <p:sldId id="313" r:id="rId25"/>
    <p:sldId id="317" r:id="rId26"/>
    <p:sldId id="358" r:id="rId27"/>
    <p:sldId id="321" r:id="rId28"/>
    <p:sldId id="34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39" autoAdjust="0"/>
    <p:restoredTop sz="94660"/>
  </p:normalViewPr>
  <p:slideViewPr>
    <p:cSldViewPr snapToGrid="0">
      <p:cViewPr varScale="1">
        <p:scale>
          <a:sx n="116" d="100"/>
          <a:sy n="116" d="100"/>
        </p:scale>
        <p:origin x="33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69C11EB-43EB-4A4D-B693-A865775D90B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69C11EB-43EB-4A4D-B693-A865775D90B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369C11EB-43EB-4A4D-B693-A865775D90B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369C11EB-43EB-4A4D-B693-A865775D90B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369C11EB-43EB-4A4D-B693-A865775D90B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69C11EB-43EB-4A4D-B693-A865775D90B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9C11EB-43EB-4A4D-B693-A865775D90B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369C11EB-43EB-4A4D-B693-A865775D90B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369C11EB-43EB-4A4D-B693-A865775D90B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69C11EB-43EB-4A4D-B693-A865775D90B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69C11EB-43EB-4A4D-B693-A865775D90B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69C11EB-43EB-4A4D-B693-A865775D90B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369C11EB-43EB-4A4D-B693-A865775D90B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369C11EB-43EB-4A4D-B693-A865775D90B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369C11EB-43EB-4A4D-B693-A865775D90B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369C11EB-43EB-4A4D-B693-A865775D90B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69C11EB-43EB-4A4D-B693-A865775D90B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9C11EB-43EB-4A4D-B693-A865775D90B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369C11EB-43EB-4A4D-B693-A865775D90B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369C11EB-43EB-4A4D-B693-A865775D90B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369C11EB-43EB-4A4D-B693-A865775D90B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369C11EB-43EB-4A4D-B693-A865775D90B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DA4A6A-ED5A-4AE5-922B-D67CD72F5E2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9C11EB-43EB-4A4D-B693-A865775D90B1}"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DA4A6A-ED5A-4AE5-922B-D67CD72F5E2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9C11EB-43EB-4A4D-B693-A865775D90B1}"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DA4A6A-ED5A-4AE5-922B-D67CD72F5E2A}"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kaggle.com/datasets/atharvaingle/crop-recommendation-dataset" TargetMode="Externa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jpeg"/><Relationship Id="rId1" Type="http://schemas.openxmlformats.org/officeDocument/2006/relationships/image" Target="../media/image20.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37685" y="2607371"/>
            <a:ext cx="10124302" cy="1349426"/>
          </a:xfrm>
        </p:spPr>
        <p:txBody>
          <a:bodyPr>
            <a:normAutofit/>
          </a:bodyPr>
          <a:lstStyle/>
          <a:p>
            <a:pPr lvl="0"/>
            <a:r>
              <a:rPr lang="en-US" sz="4400" b="1" dirty="0">
                <a:latin typeface="Times New Roman" panose="02020603050405020304" pitchFamily="18" charset="0"/>
                <a:cs typeface="Times New Roman" panose="02020603050405020304" pitchFamily="18" charset="0"/>
              </a:rPr>
              <a:t>C</a:t>
            </a:r>
            <a:r>
              <a:rPr lang="en-US" sz="4400" b="1" dirty="0" smtClean="0">
                <a:latin typeface="Times New Roman" panose="02020603050405020304" pitchFamily="18" charset="0"/>
                <a:cs typeface="Times New Roman" panose="02020603050405020304" pitchFamily="18" charset="0"/>
              </a:rPr>
              <a:t>rop Recommendation </a:t>
            </a:r>
            <a:r>
              <a:rPr lang="en-US" sz="4400" b="1" dirty="0">
                <a:latin typeface="Times New Roman" panose="02020603050405020304" pitchFamily="18" charset="0"/>
                <a:cs typeface="Times New Roman" panose="02020603050405020304" pitchFamily="18" charset="0"/>
              </a:rPr>
              <a:t>S</a:t>
            </a:r>
            <a:r>
              <a:rPr lang="en-US" sz="4400" b="1" dirty="0" smtClean="0">
                <a:latin typeface="Times New Roman" panose="02020603050405020304" pitchFamily="18" charset="0"/>
                <a:cs typeface="Times New Roman" panose="02020603050405020304" pitchFamily="18" charset="0"/>
              </a:rPr>
              <a:t>ystem </a:t>
            </a:r>
            <a:r>
              <a:rPr lang="en-US" sz="4400" b="1" dirty="0">
                <a:latin typeface="Times New Roman" panose="02020603050405020304" pitchFamily="18" charset="0"/>
                <a:cs typeface="Times New Roman" panose="02020603050405020304" pitchFamily="18" charset="0"/>
              </a:rPr>
              <a:t>U</a:t>
            </a:r>
            <a:r>
              <a:rPr lang="en-US" sz="4400" b="1" dirty="0" smtClean="0">
                <a:latin typeface="Times New Roman" panose="02020603050405020304" pitchFamily="18" charset="0"/>
                <a:cs typeface="Times New Roman" panose="02020603050405020304" pitchFamily="18" charset="0"/>
              </a:rPr>
              <a:t>sing </a:t>
            </a:r>
            <a:r>
              <a:rPr lang="en-US" sz="4400" b="1" dirty="0">
                <a:latin typeface="Times New Roman" panose="02020603050405020304" pitchFamily="18" charset="0"/>
                <a:cs typeface="Times New Roman" panose="02020603050405020304" pitchFamily="18" charset="0"/>
              </a:rPr>
              <a:t>M</a:t>
            </a:r>
            <a:r>
              <a:rPr lang="en-US" sz="4400" b="1" dirty="0" smtClean="0">
                <a:latin typeface="Times New Roman" panose="02020603050405020304" pitchFamily="18" charset="0"/>
                <a:cs typeface="Times New Roman" panose="02020603050405020304" pitchFamily="18" charset="0"/>
              </a:rPr>
              <a:t>achine </a:t>
            </a:r>
            <a:r>
              <a:rPr lang="en-US" sz="4400" b="1" dirty="0">
                <a:latin typeface="Times New Roman" panose="02020603050405020304" pitchFamily="18" charset="0"/>
                <a:cs typeface="Times New Roman" panose="02020603050405020304" pitchFamily="18" charset="0"/>
              </a:rPr>
              <a:t>L</a:t>
            </a:r>
            <a:r>
              <a:rPr lang="en-US" sz="4400" b="1" dirty="0" smtClean="0">
                <a:latin typeface="Times New Roman" panose="02020603050405020304" pitchFamily="18" charset="0"/>
                <a:cs typeface="Times New Roman" panose="02020603050405020304" pitchFamily="18" charset="0"/>
              </a:rPr>
              <a:t>earning</a:t>
            </a:r>
            <a:endParaRPr lang="en-US" sz="4400" b="1" dirty="0" smtClean="0">
              <a:solidFill>
                <a:schemeClr val="bg1"/>
              </a:solidFill>
              <a:latin typeface="Calibri" panose="020F0502020204030204" pitchFamily="34" charset="0"/>
              <a:cs typeface="Calibri" panose="020F0502020204030204" pitchFamily="34" charset="0"/>
            </a:endParaRPr>
          </a:p>
          <a:p>
            <a:pPr algn="ctr"/>
            <a:endParaRPr lang="en-US" sz="1400" b="1" dirty="0">
              <a:solidFill>
                <a:schemeClr val="bg1"/>
              </a:solidFill>
            </a:endParaRPr>
          </a:p>
        </p:txBody>
      </p:sp>
      <p:graphicFrame>
        <p:nvGraphicFramePr>
          <p:cNvPr id="4" name="Table 3"/>
          <p:cNvGraphicFramePr>
            <a:graphicFrameLocks noGrp="1"/>
          </p:cNvGraphicFramePr>
          <p:nvPr/>
        </p:nvGraphicFramePr>
        <p:xfrm>
          <a:off x="1150714" y="4169575"/>
          <a:ext cx="9898244" cy="2115947"/>
        </p:xfrm>
        <a:graphic>
          <a:graphicData uri="http://schemas.openxmlformats.org/drawingml/2006/table">
            <a:tbl>
              <a:tblPr firstRow="1" bandRow="1">
                <a:tableStyleId>{5940675A-B579-460E-94D1-54222C63F5DA}</a:tableStyleId>
              </a:tblPr>
              <a:tblGrid>
                <a:gridCol w="4949122"/>
                <a:gridCol w="4949122"/>
              </a:tblGrid>
              <a:tr h="493380">
                <a:tc>
                  <a:txBody>
                    <a:bodyPr/>
                    <a:lstStyle/>
                    <a:p>
                      <a:pPr marL="0" marR="0" indent="0" algn="just" defTabSz="457200" rtl="0" eaLnBrk="1" fontAlgn="auto" latinLnBrk="0" hangingPunct="1">
                        <a:lnSpc>
                          <a:spcPct val="100000"/>
                        </a:lnSpc>
                        <a:spcBef>
                          <a:spcPts val="0"/>
                        </a:spcBef>
                        <a:spcAft>
                          <a:spcPts val="0"/>
                        </a:spcAft>
                        <a:buClrTx/>
                        <a:buSzTx/>
                        <a:buFontTx/>
                        <a:buNone/>
                        <a:defRPr/>
                      </a:pPr>
                      <a:r>
                        <a:rPr lang="en-US" sz="2400" b="1" dirty="0" smtClean="0">
                          <a:solidFill>
                            <a:schemeClr val="tx1"/>
                          </a:solidFill>
                          <a:latin typeface="Times New Roman" panose="02020603050405020304" pitchFamily="18" charset="0"/>
                          <a:ea typeface="Calibri" panose="020F0502020204030204"/>
                          <a:cs typeface="Times New Roman" panose="02020603050405020304" pitchFamily="18" charset="0"/>
                        </a:rPr>
                        <a:t>Presented By:</a:t>
                      </a:r>
                      <a:endParaRPr lang="en-US" sz="2400" dirty="0" smtClean="0">
                        <a:solidFill>
                          <a:schemeClr val="tx1"/>
                        </a:solidFill>
                        <a:latin typeface="Times New Roman" panose="02020603050405020304" pitchFamily="18" charset="0"/>
                        <a:ea typeface="Calibri" panose="020F0502020204030204"/>
                        <a:cs typeface="Times New Roman" panose="02020603050405020304" pitchFamily="18" charset="0"/>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marL="0" marR="0" indent="0" algn="just" defTabSz="457200" rtl="0" eaLnBrk="1" fontAlgn="auto" latinLnBrk="0" hangingPunct="1">
                        <a:lnSpc>
                          <a:spcPct val="100000"/>
                        </a:lnSpc>
                        <a:spcBef>
                          <a:spcPts val="0"/>
                        </a:spcBef>
                        <a:spcAft>
                          <a:spcPts val="0"/>
                        </a:spcAft>
                        <a:buClrTx/>
                        <a:buSzTx/>
                        <a:buFontTx/>
                        <a:buNone/>
                        <a:defRPr/>
                      </a:pPr>
                      <a:r>
                        <a:rPr lang="en-US" sz="2400" b="1" dirty="0" smtClean="0">
                          <a:solidFill>
                            <a:schemeClr val="tx1"/>
                          </a:solidFill>
                          <a:latin typeface="Times New Roman" panose="02020603050405020304" pitchFamily="18" charset="0"/>
                          <a:ea typeface="Calibri" panose="020F0502020204030204"/>
                          <a:cs typeface="Times New Roman" panose="02020603050405020304" pitchFamily="18" charset="0"/>
                        </a:rPr>
                        <a:t>Supervised</a:t>
                      </a:r>
                      <a:r>
                        <a:rPr lang="en-US" sz="2400" b="1" baseline="0" dirty="0" smtClean="0">
                          <a:solidFill>
                            <a:schemeClr val="tx1"/>
                          </a:solidFill>
                          <a:latin typeface="Times New Roman" panose="02020603050405020304" pitchFamily="18" charset="0"/>
                          <a:ea typeface="Calibri" panose="020F0502020204030204"/>
                          <a:cs typeface="Times New Roman" panose="02020603050405020304" pitchFamily="18" charset="0"/>
                        </a:rPr>
                        <a:t> By</a:t>
                      </a:r>
                      <a:r>
                        <a:rPr lang="en-US" sz="2400" b="1" dirty="0" smtClean="0">
                          <a:solidFill>
                            <a:schemeClr val="tx1"/>
                          </a:solidFill>
                          <a:latin typeface="Times New Roman" panose="02020603050405020304" pitchFamily="18" charset="0"/>
                          <a:ea typeface="Calibri" panose="020F0502020204030204"/>
                          <a:cs typeface="Times New Roman" panose="02020603050405020304" pitchFamily="18" charset="0"/>
                        </a:rPr>
                        <a:t>:</a:t>
                      </a:r>
                      <a:endParaRPr lang="en-US" sz="2400" dirty="0" smtClean="0">
                        <a:solidFill>
                          <a:schemeClr val="tx1"/>
                        </a:solidFill>
                        <a:latin typeface="Times New Roman" panose="02020603050405020304" pitchFamily="18" charset="0"/>
                        <a:ea typeface="Calibri" panose="020F0502020204030204"/>
                        <a:cs typeface="Times New Roman" panose="02020603050405020304" pitchFamily="18" charset="0"/>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r>
              <a:tr h="1622567">
                <a:tc>
                  <a:txBody>
                    <a:bodyPr/>
                    <a:lstStyle/>
                    <a:p>
                      <a:pPr marL="0" marR="0" indent="0" algn="just" defTabSz="457200" rtl="0" eaLnBrk="1" fontAlgn="auto" latinLnBrk="0" hangingPunct="1">
                        <a:lnSpc>
                          <a:spcPct val="100000"/>
                        </a:lnSpc>
                        <a:spcBef>
                          <a:spcPts val="0"/>
                        </a:spcBef>
                        <a:spcAft>
                          <a:spcPts val="0"/>
                        </a:spcAft>
                        <a:buClrTx/>
                        <a:buSzTx/>
                        <a:buFontTx/>
                        <a:buNone/>
                        <a:defRPr/>
                      </a:pPr>
                      <a:r>
                        <a:rPr lang="en-US" sz="2400" b="1" dirty="0" err="1" smtClean="0">
                          <a:solidFill>
                            <a:schemeClr val="tx1"/>
                          </a:solidFill>
                          <a:latin typeface="Times New Roman" panose="02020603050405020304" pitchFamily="18" charset="0"/>
                          <a:ea typeface="Calibri" panose="020F0502020204030204"/>
                          <a:cs typeface="Times New Roman" panose="02020603050405020304" pitchFamily="18" charset="0"/>
                        </a:rPr>
                        <a:t>Dipa</a:t>
                      </a:r>
                      <a:r>
                        <a:rPr lang="en-US" sz="2400" b="1" dirty="0" smtClean="0">
                          <a:solidFill>
                            <a:schemeClr val="tx1"/>
                          </a:solidFill>
                          <a:latin typeface="Times New Roman" panose="02020603050405020304" pitchFamily="18" charset="0"/>
                          <a:ea typeface="Calibri" panose="020F0502020204030204"/>
                          <a:cs typeface="Times New Roman" panose="02020603050405020304" pitchFamily="18" charset="0"/>
                        </a:rPr>
                        <a:t> Rani </a:t>
                      </a:r>
                      <a:r>
                        <a:rPr lang="en-US" sz="2400" b="1" dirty="0" err="1" smtClean="0">
                          <a:solidFill>
                            <a:schemeClr val="tx1"/>
                          </a:solidFill>
                          <a:latin typeface="Times New Roman" panose="02020603050405020304" pitchFamily="18" charset="0"/>
                          <a:ea typeface="Calibri" panose="020F0502020204030204"/>
                          <a:cs typeface="Times New Roman" panose="02020603050405020304" pitchFamily="18" charset="0"/>
                        </a:rPr>
                        <a:t>Sarker</a:t>
                      </a:r>
                      <a:endParaRPr lang="en-US" sz="2400" b="1" dirty="0" smtClean="0">
                        <a:solidFill>
                          <a:schemeClr val="tx1"/>
                        </a:solidFill>
                        <a:latin typeface="Times New Roman" panose="02020603050405020304" pitchFamily="18" charset="0"/>
                        <a:ea typeface="Calibri" panose="020F0502020204030204"/>
                        <a:cs typeface="Times New Roman" panose="02020603050405020304" pitchFamily="18" charset="0"/>
                      </a:endParaRPr>
                    </a:p>
                    <a:p>
                      <a:pPr marL="0" marR="0" indent="0" algn="just" defTabSz="457200" rtl="0" eaLnBrk="1" fontAlgn="auto" latinLnBrk="0" hangingPunct="1">
                        <a:lnSpc>
                          <a:spcPct val="100000"/>
                        </a:lnSpc>
                        <a:spcBef>
                          <a:spcPts val="0"/>
                        </a:spcBef>
                        <a:spcAft>
                          <a:spcPts val="0"/>
                        </a:spcAft>
                        <a:buClrTx/>
                        <a:buSzTx/>
                        <a:buFontTx/>
                        <a:buNone/>
                        <a:defRPr/>
                      </a:pPr>
                      <a:r>
                        <a:rPr lang="en-US" sz="2400" dirty="0" smtClean="0">
                          <a:solidFill>
                            <a:schemeClr val="tx1"/>
                          </a:solidFill>
                          <a:latin typeface="Times New Roman" panose="02020603050405020304" pitchFamily="18" charset="0"/>
                          <a:ea typeface="Calibri" panose="020F0502020204030204"/>
                          <a:cs typeface="Times New Roman" panose="02020603050405020304" pitchFamily="18" charset="0"/>
                        </a:rPr>
                        <a:t>ID: 2037820121</a:t>
                      </a:r>
                      <a:endParaRPr lang="en-US" sz="2400" dirty="0" smtClean="0">
                        <a:solidFill>
                          <a:schemeClr val="tx1"/>
                        </a:solidFill>
                        <a:latin typeface="Times New Roman" panose="02020603050405020304" pitchFamily="18" charset="0"/>
                        <a:ea typeface="Calibri" panose="020F0502020204030204"/>
                        <a:cs typeface="Times New Roman" panose="02020603050405020304" pitchFamily="18" charset="0"/>
                      </a:endParaRPr>
                    </a:p>
                    <a:p>
                      <a:pPr marL="0" marR="0" indent="0" algn="just" defTabSz="457200" rtl="0" eaLnBrk="1" fontAlgn="auto" latinLnBrk="0" hangingPunct="1">
                        <a:lnSpc>
                          <a:spcPct val="100000"/>
                        </a:lnSpc>
                        <a:spcBef>
                          <a:spcPts val="0"/>
                        </a:spcBef>
                        <a:spcAft>
                          <a:spcPts val="0"/>
                        </a:spcAft>
                        <a:buClrTx/>
                        <a:buSzTx/>
                        <a:buFontTx/>
                        <a:buNone/>
                        <a:defRPr/>
                      </a:pPr>
                      <a:r>
                        <a:rPr lang="en-US" sz="2400" dirty="0" smtClean="0">
                          <a:solidFill>
                            <a:schemeClr val="tx1"/>
                          </a:solidFill>
                          <a:latin typeface="Times New Roman" panose="02020603050405020304" pitchFamily="18" charset="0"/>
                          <a:ea typeface="Calibri" panose="020F0502020204030204"/>
                          <a:cs typeface="Times New Roman" panose="02020603050405020304" pitchFamily="18" charset="0"/>
                        </a:rPr>
                        <a:t>Session: 2019-2020</a:t>
                      </a:r>
                      <a:endParaRPr lang="en-US" sz="2400" dirty="0" smtClean="0">
                        <a:solidFill>
                          <a:schemeClr val="tx1"/>
                        </a:solidFill>
                        <a:latin typeface="Times New Roman" panose="02020603050405020304" pitchFamily="18" charset="0"/>
                        <a:ea typeface="Calibri" panose="020F0502020204030204"/>
                        <a:cs typeface="Times New Roman" panose="02020603050405020304" pitchFamily="18" charset="0"/>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marL="0" marR="0" indent="0" algn="just" defTabSz="457200" rtl="0" eaLnBrk="1" fontAlgn="auto" latinLnBrk="0" hangingPunct="1">
                        <a:lnSpc>
                          <a:spcPct val="100000"/>
                        </a:lnSpc>
                        <a:spcBef>
                          <a:spcPts val="0"/>
                        </a:spcBef>
                        <a:spcAft>
                          <a:spcPts val="0"/>
                        </a:spcAft>
                        <a:buClrTx/>
                        <a:buSzTx/>
                        <a:buFontTx/>
                        <a:buNone/>
                        <a:defRPr/>
                      </a:pPr>
                      <a:r>
                        <a:rPr lang="en-US" sz="2400" b="1" dirty="0" smtClean="0">
                          <a:solidFill>
                            <a:schemeClr val="tx1"/>
                          </a:solidFill>
                          <a:latin typeface="Times New Roman" panose="02020603050405020304" pitchFamily="18" charset="0"/>
                          <a:ea typeface="Calibri" panose="020F0502020204030204"/>
                          <a:cs typeface="Times New Roman" panose="02020603050405020304" pitchFamily="18" charset="0"/>
                        </a:rPr>
                        <a:t>Md. </a:t>
                      </a:r>
                      <a:r>
                        <a:rPr lang="en-US" sz="2400" b="1" dirty="0" err="1" smtClean="0">
                          <a:solidFill>
                            <a:schemeClr val="tx1"/>
                          </a:solidFill>
                          <a:latin typeface="Times New Roman" panose="02020603050405020304" pitchFamily="18" charset="0"/>
                          <a:ea typeface="Calibri" panose="020F0502020204030204"/>
                          <a:cs typeface="Times New Roman" panose="02020603050405020304" pitchFamily="18" charset="0"/>
                        </a:rPr>
                        <a:t>Hasibul</a:t>
                      </a:r>
                      <a:r>
                        <a:rPr lang="en-US" sz="2400" b="1" dirty="0" smtClean="0">
                          <a:solidFill>
                            <a:schemeClr val="tx1"/>
                          </a:solidFill>
                          <a:latin typeface="Times New Roman" panose="02020603050405020304" pitchFamily="18" charset="0"/>
                          <a:ea typeface="Calibri" panose="020F0502020204030204"/>
                          <a:cs typeface="Times New Roman" panose="02020603050405020304" pitchFamily="18" charset="0"/>
                        </a:rPr>
                        <a:t> </a:t>
                      </a:r>
                      <a:r>
                        <a:rPr lang="en-US" sz="2400" b="1" dirty="0" err="1" smtClean="0">
                          <a:solidFill>
                            <a:schemeClr val="tx1"/>
                          </a:solidFill>
                          <a:latin typeface="Times New Roman" panose="02020603050405020304" pitchFamily="18" charset="0"/>
                          <a:ea typeface="Calibri" panose="020F0502020204030204"/>
                          <a:cs typeface="Times New Roman" panose="02020603050405020304" pitchFamily="18" charset="0"/>
                        </a:rPr>
                        <a:t>Alam</a:t>
                      </a:r>
                      <a:endParaRPr lang="en-US" sz="2400" b="1" dirty="0" smtClean="0">
                        <a:solidFill>
                          <a:schemeClr val="tx1"/>
                        </a:solidFill>
                        <a:latin typeface="Times New Roman" panose="02020603050405020304" pitchFamily="18" charset="0"/>
                        <a:ea typeface="Calibri" panose="020F0502020204030204"/>
                        <a:cs typeface="Times New Roman" panose="02020603050405020304" pitchFamily="18" charset="0"/>
                      </a:endParaRPr>
                    </a:p>
                    <a:p>
                      <a:pPr marL="0" marR="0" indent="0" algn="just" defTabSz="457200" rtl="0" eaLnBrk="1" fontAlgn="auto" latinLnBrk="0" hangingPunct="1">
                        <a:lnSpc>
                          <a:spcPct val="100000"/>
                        </a:lnSpc>
                        <a:spcBef>
                          <a:spcPts val="0"/>
                        </a:spcBef>
                        <a:spcAft>
                          <a:spcPts val="0"/>
                        </a:spcAft>
                        <a:buClrTx/>
                        <a:buSzTx/>
                        <a:buFontTx/>
                        <a:buNone/>
                        <a:defRPr/>
                      </a:pPr>
                      <a:r>
                        <a:rPr lang="en-US" sz="2400" dirty="0" smtClean="0">
                          <a:latin typeface="Times New Roman" panose="02020603050405020304" pitchFamily="18" charset="0"/>
                          <a:cs typeface="Times New Roman" panose="02020603050405020304" pitchFamily="18" charset="0"/>
                        </a:rPr>
                        <a:t>Lecturer,</a:t>
                      </a:r>
                      <a:r>
                        <a:rPr lang="en-US" sz="2400" baseline="0" dirty="0" smtClean="0">
                          <a:latin typeface="Times New Roman" panose="02020603050405020304" pitchFamily="18" charset="0"/>
                          <a:cs typeface="Times New Roman" panose="02020603050405020304" pitchFamily="18" charset="0"/>
                        </a:rPr>
                        <a:t> </a:t>
                      </a:r>
                      <a:endParaRPr lang="en-US" sz="2400" baseline="0" dirty="0" smtClean="0">
                        <a:latin typeface="Times New Roman" panose="02020603050405020304" pitchFamily="18" charset="0"/>
                        <a:cs typeface="Times New Roman" panose="02020603050405020304" pitchFamily="18" charset="0"/>
                      </a:endParaRPr>
                    </a:p>
                    <a:p>
                      <a:pPr marL="0" marR="0" indent="0" algn="just" defTabSz="457200" rtl="0" eaLnBrk="1" fontAlgn="auto" latinLnBrk="0" hangingPunct="1">
                        <a:lnSpc>
                          <a:spcPct val="100000"/>
                        </a:lnSpc>
                        <a:spcBef>
                          <a:spcPts val="0"/>
                        </a:spcBef>
                        <a:spcAft>
                          <a:spcPts val="0"/>
                        </a:spcAft>
                        <a:buClrTx/>
                        <a:buSzTx/>
                        <a:buFontTx/>
                        <a:buNone/>
                        <a:defRPr/>
                      </a:pPr>
                      <a:r>
                        <a:rPr lang="en-US" sz="2400" dirty="0" smtClean="0">
                          <a:latin typeface="Times New Roman" panose="02020603050405020304" pitchFamily="18" charset="0"/>
                          <a:cs typeface="Times New Roman" panose="02020603050405020304" pitchFamily="18" charset="0"/>
                        </a:rPr>
                        <a:t>Dept. of CSE.</a:t>
                      </a:r>
                      <a:endParaRPr lang="en-US" sz="2400" dirty="0" smtClean="0">
                        <a:latin typeface="Times New Roman" panose="02020603050405020304" pitchFamily="18" charset="0"/>
                        <a:cs typeface="Times New Roman" panose="02020603050405020304" pitchFamily="18" charset="0"/>
                      </a:endParaRPr>
                    </a:p>
                    <a:p>
                      <a:pPr marL="0" marR="0" indent="0" algn="just" defTabSz="457200" rtl="0" eaLnBrk="1" fontAlgn="auto" latinLnBrk="0" hangingPunct="1">
                        <a:lnSpc>
                          <a:spcPct val="100000"/>
                        </a:lnSpc>
                        <a:spcBef>
                          <a:spcPts val="0"/>
                        </a:spcBef>
                        <a:spcAft>
                          <a:spcPts val="0"/>
                        </a:spcAft>
                        <a:buClrTx/>
                        <a:buSzTx/>
                        <a:buFontTx/>
                        <a:buNone/>
                        <a:defRPr/>
                      </a:pPr>
                      <a:r>
                        <a:rPr lang="en-US" sz="2400" b="0" dirty="0" smtClean="0">
                          <a:solidFill>
                            <a:schemeClr val="tx1"/>
                          </a:solidFill>
                          <a:latin typeface="Times New Roman" panose="02020603050405020304" pitchFamily="18" charset="0"/>
                          <a:ea typeface="Calibri" panose="020F0502020204030204"/>
                          <a:cs typeface="Times New Roman" panose="02020603050405020304" pitchFamily="18" charset="0"/>
                        </a:rPr>
                        <a:t>TMSS Engineering College, </a:t>
                      </a:r>
                      <a:r>
                        <a:rPr lang="en-US" sz="2400" b="0" dirty="0" err="1" smtClean="0">
                          <a:solidFill>
                            <a:schemeClr val="tx1"/>
                          </a:solidFill>
                          <a:latin typeface="Times New Roman" panose="02020603050405020304" pitchFamily="18" charset="0"/>
                          <a:ea typeface="Calibri" panose="020F0502020204030204"/>
                          <a:cs typeface="Times New Roman" panose="02020603050405020304" pitchFamily="18" charset="0"/>
                        </a:rPr>
                        <a:t>Bogura</a:t>
                      </a:r>
                      <a:r>
                        <a:rPr lang="en-US" sz="2400" b="0" dirty="0" smtClean="0">
                          <a:solidFill>
                            <a:schemeClr val="tx1"/>
                          </a:solidFill>
                          <a:latin typeface="Times New Roman" panose="02020603050405020304" pitchFamily="18" charset="0"/>
                          <a:ea typeface="Calibri" panose="020F0502020204030204"/>
                          <a:cs typeface="Times New Roman" panose="02020603050405020304" pitchFamily="18" charset="0"/>
                        </a:rPr>
                        <a:t>.</a:t>
                      </a:r>
                      <a:endParaRPr lang="en-US" sz="2400" b="0" dirty="0" smtClean="0">
                        <a:solidFill>
                          <a:schemeClr val="tx1"/>
                        </a:solidFill>
                        <a:latin typeface="Times New Roman" panose="02020603050405020304" pitchFamily="18" charset="0"/>
                        <a:ea typeface="Calibri" panose="020F0502020204030204"/>
                        <a:cs typeface="Times New Roman" panose="02020603050405020304" pitchFamily="18" charset="0"/>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r>
            </a:tbl>
          </a:graphicData>
        </a:graphic>
      </p:graphicFrame>
      <p:sp>
        <p:nvSpPr>
          <p:cNvPr id="7" name="Subtitle 2"/>
          <p:cNvSpPr txBox="1"/>
          <p:nvPr/>
        </p:nvSpPr>
        <p:spPr>
          <a:xfrm>
            <a:off x="3767902" y="2965622"/>
            <a:ext cx="4829190" cy="84570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2000" b="0" i="0" kern="1200" cap="all">
                <a:solidFill>
                  <a:schemeClr val="bg2">
                    <a:lumMod val="40000"/>
                    <a:lumOff val="60000"/>
                  </a:schemeClr>
                </a:solidFill>
                <a:latin typeface="+mj-lt"/>
                <a:ea typeface="+mj-ea"/>
                <a:cs typeface="+mj-cs"/>
              </a:defRPr>
            </a:lvl1pPr>
            <a:lvl2pPr marL="4572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9pPr>
          </a:lstStyle>
          <a:p>
            <a:pPr algn="ctr">
              <a:buClr>
                <a:srgbClr val="DBEBE4">
                  <a:lumMod val="40000"/>
                  <a:lumOff val="60000"/>
                </a:srgbClr>
              </a:buClr>
            </a:pPr>
            <a:endParaRPr lang="en-AU" sz="1200" dirty="0" smtClean="0">
              <a:solidFill>
                <a:srgbClr val="DBEBE4">
                  <a:lumMod val="40000"/>
                  <a:lumOff val="60000"/>
                </a:srgbClr>
              </a:solidFill>
            </a:endParaRPr>
          </a:p>
        </p:txBody>
      </p:sp>
      <p:pic>
        <p:nvPicPr>
          <p:cNvPr id="6" name="Picture 5" descr="logo (1).png"/>
          <p:cNvPicPr/>
          <p:nvPr/>
        </p:nvPicPr>
        <p:blipFill>
          <a:blip r:embed="rId1">
            <a:extLst>
              <a:ext uri="{28A0092B-C50C-407E-A947-70E740481C1C}">
                <a14:useLocalDpi xmlns:a14="http://schemas.microsoft.com/office/drawing/2010/main" val="0"/>
              </a:ext>
            </a:extLst>
          </a:blip>
          <a:srcRect/>
          <a:stretch>
            <a:fillRect/>
          </a:stretch>
        </p:blipFill>
        <p:spPr bwMode="auto">
          <a:xfrm>
            <a:off x="5456436" y="1095454"/>
            <a:ext cx="1245235" cy="1293495"/>
          </a:xfrm>
          <a:prstGeom prst="rect">
            <a:avLst/>
          </a:prstGeom>
          <a:noFill/>
        </p:spPr>
      </p:pic>
      <p:sp>
        <p:nvSpPr>
          <p:cNvPr id="8" name="Subtitle 2"/>
          <p:cNvSpPr txBox="1"/>
          <p:nvPr/>
        </p:nvSpPr>
        <p:spPr>
          <a:xfrm>
            <a:off x="1037796" y="515335"/>
            <a:ext cx="10124302" cy="58011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b="1" dirty="0">
                <a:latin typeface="Times New Roman" panose="02020603050405020304" pitchFamily="18" charset="0"/>
                <a:cs typeface="Times New Roman" panose="02020603050405020304" pitchFamily="18" charset="0"/>
              </a:rPr>
              <a:t>UNIVERSITY OF RAJSHAHI</a:t>
            </a:r>
            <a:endParaRPr lang="en-US" sz="32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443416" cy="6858000"/>
          </a:xfrm>
          <a:solidFill>
            <a:schemeClr val="bg2">
              <a:lumMod val="10000"/>
            </a:schemeClr>
          </a:solidFill>
        </p:spPr>
        <p:txBody>
          <a:bodyPr/>
          <a:lstStyle/>
          <a:p>
            <a:pPr algn="ctr"/>
            <a:r>
              <a:rPr lang="en-US" b="1" dirty="0" smtClean="0">
                <a:solidFill>
                  <a:schemeClr val="bg1"/>
                </a:solidFill>
                <a:latin typeface="Times New Roman" panose="02020603050405020304" pitchFamily="18" charset="0"/>
                <a:cs typeface="Times New Roman" panose="02020603050405020304" pitchFamily="18" charset="0"/>
              </a:rPr>
              <a:t>Overview</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61031" y="1512414"/>
            <a:ext cx="7315200" cy="3964975"/>
          </a:xfrm>
        </p:spPr>
        <p:txBody>
          <a:bodyPr>
            <a:normAutofit/>
          </a:bodyPr>
          <a:lstStyle/>
          <a:p>
            <a:pPr>
              <a:spcBef>
                <a:spcPts val="0"/>
              </a:spcBef>
              <a:spcAft>
                <a:spcPts val="1200"/>
              </a:spcAft>
              <a:buClr>
                <a:schemeClr val="dk1"/>
              </a:buClr>
              <a:buSzPts val="3200"/>
            </a:pP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Introduction</a:t>
            </a:r>
            <a:endPar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spcBef>
                <a:spcPts val="0"/>
              </a:spcBef>
              <a:spcAft>
                <a:spcPts val="1200"/>
              </a:spcAft>
              <a:buClr>
                <a:schemeClr val="dk1"/>
              </a:buClr>
              <a:buSzPts val="3200"/>
            </a:pP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Objectives</a:t>
            </a:r>
            <a:endPar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spcBef>
                <a:spcPts val="0"/>
              </a:spcBef>
              <a:spcAft>
                <a:spcPts val="1200"/>
              </a:spcAft>
              <a:buClr>
                <a:schemeClr val="dk1"/>
              </a:buClr>
              <a:buSzPts val="3200"/>
            </a:pP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Proposed </a:t>
            </a: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Methodology</a:t>
            </a:r>
            <a:endPar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spcBef>
                <a:spcPts val="0"/>
              </a:spcBef>
              <a:spcAft>
                <a:spcPts val="1200"/>
              </a:spcAft>
              <a:buClr>
                <a:schemeClr val="dk1"/>
              </a:buClr>
              <a:buSzPts val="3200"/>
            </a:pP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Model Training &amp; Result Analysis</a:t>
            </a:r>
            <a:endPar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spcBef>
                <a:spcPts val="0"/>
              </a:spcBef>
              <a:spcAft>
                <a:spcPts val="1200"/>
              </a:spcAft>
              <a:buClr>
                <a:schemeClr val="dk1"/>
              </a:buClr>
              <a:buSzPts val="3200"/>
            </a:pP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Web Application</a:t>
            </a:r>
            <a:endPar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spcBef>
                <a:spcPts val="0"/>
              </a:spcBef>
              <a:spcAft>
                <a:spcPts val="1200"/>
              </a:spcAft>
              <a:buClr>
                <a:schemeClr val="dk1"/>
              </a:buClr>
              <a:buSzPts val="3200"/>
            </a:pP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Future Work</a:t>
            </a:r>
            <a:endPar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spcBef>
                <a:spcPts val="0"/>
              </a:spcBef>
              <a:spcAft>
                <a:spcPts val="1200"/>
              </a:spcAft>
              <a:buClr>
                <a:schemeClr val="dk1"/>
              </a:buClr>
              <a:buSzPts val="3200"/>
            </a:pP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Conclusion</a:t>
            </a:r>
            <a:endPar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spcBef>
                <a:spcPts val="0"/>
              </a:spcBef>
              <a:spcAft>
                <a:spcPts val="1200"/>
              </a:spcAft>
              <a:buClr>
                <a:schemeClr val="dk1"/>
              </a:buClr>
              <a:buSzPts val="3200"/>
            </a:pP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References</a:t>
            </a:r>
            <a:endParaRPr lang="en-US" sz="2400" dirty="0" smtClean="0">
              <a:latin typeface="Times New Roman" panose="02020603050405020304" pitchFamily="18" charset="0"/>
              <a:cs typeface="Times New Roman" panose="02020603050405020304" pitchFamily="18" charset="0"/>
            </a:endParaRPr>
          </a:p>
          <a:p>
            <a:pPr marL="0" indent="0">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smtClean="0">
                <a:latin typeface="Times New Roman" panose="02020603050405020304" pitchFamily="18" charset="0"/>
                <a:cs typeface="Times New Roman" panose="02020603050405020304" pitchFamily="18" charset="0"/>
              </a:rPr>
              <a:t>Introduction</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Improving agricultural productivity is essential for ensuring food security and supporting sustainable growth. This project introduces a Machine Learning-based Crop Recommendation System to make farming smarter and more efficient</a:t>
            </a:r>
            <a:r>
              <a:rPr lang="en-US" sz="2400" dirty="0" smtClean="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Developed </a:t>
            </a:r>
            <a:r>
              <a:rPr lang="en-US" sz="2400" dirty="0">
                <a:latin typeface="Times New Roman" panose="02020603050405020304" pitchFamily="18" charset="0"/>
                <a:cs typeface="Times New Roman" panose="02020603050405020304" pitchFamily="18" charset="0"/>
              </a:rPr>
              <a:t>using </a:t>
            </a:r>
            <a:r>
              <a:rPr lang="en-US" sz="2400" dirty="0" smtClean="0">
                <a:latin typeface="Times New Roman" panose="02020603050405020304" pitchFamily="18" charset="0"/>
                <a:cs typeface="Times New Roman" panose="02020603050405020304" pitchFamily="18" charset="0"/>
              </a:rPr>
              <a:t>Python, </a:t>
            </a:r>
            <a:r>
              <a:rPr lang="en-US" sz="2400" dirty="0">
                <a:latin typeface="Times New Roman" panose="02020603050405020304" pitchFamily="18" charset="0"/>
                <a:cs typeface="Times New Roman" panose="02020603050405020304" pitchFamily="18" charset="0"/>
              </a:rPr>
              <a:t>it analyzes key factors like soil nutrients, temperature, humidity, pH, and rainfall. A user-friendly web application has been built using Flask, making it easy and intuitive for farmers to use.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smtClean="0">
                <a:latin typeface="Times New Roman" panose="02020603050405020304" pitchFamily="18" charset="0"/>
                <a:cs typeface="Times New Roman" panose="02020603050405020304" pitchFamily="18" charset="0"/>
              </a:rPr>
              <a:t>1/20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None/>
            </a:pPr>
            <a:endParaRPr lang="en-US" sz="2400"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798169" y="4613189"/>
            <a:ext cx="2555631" cy="1563774"/>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smtClean="0">
                <a:latin typeface="Times New Roman" panose="02020603050405020304" pitchFamily="18" charset="0"/>
                <a:cs typeface="Times New Roman" panose="02020603050405020304" pitchFamily="18" charset="0"/>
              </a:rPr>
              <a:t>Objectives</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4486275"/>
          </a:xfrm>
        </p:spPr>
        <p:txBody>
          <a:bodyPr>
            <a:normAutofit/>
          </a:bodyPr>
          <a:lstStyle/>
          <a:p>
            <a:pPr lvl="0" algn="just"/>
            <a:r>
              <a:rPr lang="en-US" sz="2400" dirty="0" smtClean="0">
                <a:latin typeface="Times New Roman" panose="02020603050405020304" pitchFamily="18" charset="0"/>
                <a:cs typeface="Times New Roman" panose="02020603050405020304" pitchFamily="18" charset="0"/>
              </a:rPr>
              <a:t>Develop </a:t>
            </a:r>
            <a:r>
              <a:rPr lang="en-US" sz="2400" dirty="0">
                <a:latin typeface="Times New Roman" panose="02020603050405020304" pitchFamily="18" charset="0"/>
                <a:cs typeface="Times New Roman" panose="02020603050405020304" pitchFamily="18" charset="0"/>
              </a:rPr>
              <a:t>a system that recommends crops based on input data (e.g., soil nutrients, temperature, humidity, pH etc.).</a:t>
            </a:r>
            <a:endParaRPr lang="en-US"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Use machine learning models for prediction and better selection.</a:t>
            </a:r>
            <a:endParaRPr lang="en-US"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Integrate the chosen model into a Flask web app so that it’s easy to use and accessible to anyone through a simple web interface.</a:t>
            </a:r>
            <a:endParaRPr lang="en-US"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Provide </a:t>
            </a:r>
            <a:r>
              <a:rPr lang="en-US" sz="2400" dirty="0" smtClean="0">
                <a:latin typeface="Times New Roman" panose="02020603050405020304" pitchFamily="18" charset="0"/>
                <a:cs typeface="Times New Roman" panose="02020603050405020304" pitchFamily="18" charset="0"/>
              </a:rPr>
              <a:t>a better </a:t>
            </a:r>
            <a:r>
              <a:rPr lang="en-US" sz="2400" dirty="0">
                <a:latin typeface="Times New Roman" panose="02020603050405020304" pitchFamily="18" charset="0"/>
                <a:cs typeface="Times New Roman" panose="02020603050405020304" pitchFamily="18" charset="0"/>
              </a:rPr>
              <a:t>user-friendly web interface for users.</a:t>
            </a:r>
            <a:endParaRPr lang="en-US" sz="2400" dirty="0">
              <a:latin typeface="Times New Roman" panose="02020603050405020304" pitchFamily="18" charset="0"/>
              <a:cs typeface="Times New Roman" panose="02020603050405020304" pitchFamily="18" charset="0"/>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b="1"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a:latin typeface="Times New Roman" panose="02020603050405020304" pitchFamily="18" charset="0"/>
                <a:cs typeface="Times New Roman" panose="02020603050405020304" pitchFamily="18" charset="0"/>
              </a:rPr>
              <a:t>2</a:t>
            </a:r>
            <a:r>
              <a:rPr lang="en-US" sz="2400" dirty="0" smtClean="0">
                <a:latin typeface="Times New Roman" panose="02020603050405020304" pitchFamily="18" charset="0"/>
                <a:cs typeface="Times New Roman" panose="02020603050405020304" pitchFamily="18" charset="0"/>
              </a:rPr>
              <a:t>/20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None/>
            </a:pPr>
            <a:endParaRPr lang="en-US"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15416" y="4679092"/>
            <a:ext cx="1938384" cy="1420653"/>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98224"/>
            <a:ext cx="10515600" cy="2205868"/>
          </a:xfrm>
        </p:spPr>
        <p:txBody>
          <a:bodyPr>
            <a:normAutofit/>
          </a:bodyPr>
          <a:lstStyle/>
          <a:p>
            <a:pPr algn="ctr"/>
            <a:r>
              <a:rPr lang="en-US" sz="6000" b="1" dirty="0" smtClean="0">
                <a:latin typeface="Times New Roman" panose="02020603050405020304" pitchFamily="18" charset="0"/>
                <a:cs typeface="Times New Roman" panose="02020603050405020304" pitchFamily="18" charset="0"/>
              </a:rPr>
              <a:t>Proposed Methodology</a:t>
            </a:r>
            <a:endParaRPr lang="en-US" sz="60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Block Diagram Showing the Overall Methodology</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b="1"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smtClean="0">
                <a:latin typeface="Times New Roman" panose="02020603050405020304" pitchFamily="18" charset="0"/>
                <a:cs typeface="Times New Roman" panose="02020603050405020304" pitchFamily="18" charset="0"/>
              </a:rPr>
              <a:t>3</a:t>
            </a:r>
            <a:r>
              <a:rPr lang="en-US" sz="2400" dirty="0" smtClean="0">
                <a:latin typeface="Times New Roman" panose="02020603050405020304" pitchFamily="18" charset="0"/>
                <a:cs typeface="Times New Roman" panose="02020603050405020304" pitchFamily="18" charset="0"/>
              </a:rPr>
              <a:t>/20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None/>
            </a:pPr>
            <a:endParaRPr lang="en-US" sz="2400" dirty="0">
              <a:latin typeface="Times New Roman" panose="02020603050405020304" pitchFamily="18" charset="0"/>
              <a:cs typeface="Times New Roman" panose="02020603050405020304" pitchFamily="18" charset="0"/>
            </a:endParaRPr>
          </a:p>
        </p:txBody>
      </p:sp>
      <p:pic>
        <p:nvPicPr>
          <p:cNvPr id="5" name="image4.png"/>
          <p:cNvPicPr/>
          <p:nvPr/>
        </p:nvPicPr>
        <p:blipFill>
          <a:blip r:embed="rId1"/>
          <a:srcRect/>
          <a:stretch>
            <a:fillRect/>
          </a:stretch>
        </p:blipFill>
        <p:spPr>
          <a:xfrm>
            <a:off x="2010032" y="2222590"/>
            <a:ext cx="8171936" cy="2827205"/>
          </a:xfrm>
          <a:prstGeom prst="rect">
            <a:avLst/>
          </a:prstGeom>
        </p:spPr>
      </p:pic>
      <p:sp>
        <p:nvSpPr>
          <p:cNvPr id="6" name="Title 1"/>
          <p:cNvSpPr txBox="1"/>
          <p:nvPr/>
        </p:nvSpPr>
        <p:spPr>
          <a:xfrm>
            <a:off x="838200" y="479857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latin typeface="Times New Roman" panose="02020603050405020304" pitchFamily="18" charset="0"/>
                <a:cs typeface="Times New Roman" panose="02020603050405020304" pitchFamily="18" charset="0"/>
              </a:rPr>
              <a:t>Fig. 1: Overview of the Proposed Methodology.</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1379"/>
          </a:xfrm>
        </p:spPr>
        <p:txBody>
          <a:bodyPr/>
          <a:lstStyle/>
          <a:p>
            <a:pPr algn="ctr"/>
            <a:r>
              <a:rPr lang="en-US" b="1" dirty="0" smtClean="0">
                <a:latin typeface="Times New Roman" panose="02020603050405020304" pitchFamily="18" charset="0"/>
                <a:cs typeface="Times New Roman" panose="02020603050405020304" pitchFamily="18" charset="0"/>
              </a:rPr>
              <a:t>Dataset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69412"/>
            <a:ext cx="10515600" cy="1513831"/>
          </a:xfrm>
        </p:spPr>
        <p:txBody>
          <a:bodyPr>
            <a:normAutofit/>
          </a:bodyPr>
          <a:lstStyle/>
          <a:p>
            <a:pPr marL="0" indent="0">
              <a:buClr>
                <a:schemeClr val="dk1"/>
              </a:buClr>
              <a:buSzPts val="2400"/>
              <a:buNone/>
            </a:pP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 this project, I used a reliable </a:t>
            </a:r>
            <a:r>
              <a:rPr lang="en-US" sz="2400" dirty="0" smtClean="0">
                <a:latin typeface="Times New Roman" panose="02020603050405020304" pitchFamily="18" charset="0"/>
                <a:cs typeface="Times New Roman" panose="02020603050405020304" pitchFamily="18" charset="0"/>
                <a:sym typeface="Times New Roman" panose="02020603050405020304"/>
              </a:rPr>
              <a:t>C</a:t>
            </a:r>
            <a:r>
              <a:rPr lang="en-US" sz="2400" dirty="0" smtClean="0">
                <a:latin typeface="Times New Roman" panose="02020603050405020304" pitchFamily="18" charset="0"/>
                <a:cs typeface="Times New Roman" panose="02020603050405020304" pitchFamily="18" charset="0"/>
              </a:rPr>
              <a:t>ro</a:t>
            </a: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 </a:t>
            </a:r>
            <a:r>
              <a:rPr lang="en-US" sz="2400" dirty="0" smtClean="0">
                <a:latin typeface="Times New Roman" panose="02020603050405020304" pitchFamily="18" charset="0"/>
                <a:cs typeface="Times New Roman" panose="02020603050405020304" pitchFamily="18" charset="0"/>
              </a:rPr>
              <a:t>Dataset from </a:t>
            </a:r>
            <a:r>
              <a:rPr lang="en-US" sz="2400" dirty="0" err="1" smtClean="0">
                <a:latin typeface="Times New Roman" panose="02020603050405020304" pitchFamily="18" charset="0"/>
                <a:cs typeface="Times New Roman" panose="02020603050405020304" pitchFamily="18" charset="0"/>
                <a:hlinkClick r:id="rId1"/>
              </a:rPr>
              <a:t>Kaggle</a:t>
            </a:r>
            <a:r>
              <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a:t>
            </a: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a:lnSpc>
                <a:spcPct val="100000"/>
              </a:lnSpc>
              <a:buClr>
                <a:schemeClr val="dk1"/>
              </a:buClr>
              <a:buSzPts val="2400"/>
            </a:pP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The d</a:t>
            </a: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ataset </a:t>
            </a: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contains 2200 </a:t>
            </a: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instances and 8 attributes.				</a:t>
            </a:r>
            <a:endParaRPr lang="en-US" sz="2400" dirty="0" smtClean="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a:lnSpc>
                <a:spcPct val="100000"/>
              </a:lnSpc>
              <a:spcBef>
                <a:spcPts val="0"/>
              </a:spcBef>
              <a:buClr>
                <a:schemeClr val="dk1"/>
              </a:buClr>
              <a:buSzPts val="2400"/>
            </a:pP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Used 80% data for </a:t>
            </a: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training (1760 instances</a:t>
            </a: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and 20% </a:t>
            </a: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for testing (440 instances</a:t>
            </a:r>
            <a:r>
              <a:rPr lang="en-US" sz="2400" dirty="0" smtClean="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endParaRPr lang="en-US" sz="2400" b="1"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b="1"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300530"/>
            <a:ext cx="825843" cy="430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smtClean="0">
                <a:latin typeface="Times New Roman" panose="02020603050405020304" pitchFamily="18" charset="0"/>
                <a:cs typeface="Times New Roman" panose="02020603050405020304" pitchFamily="18" charset="0"/>
              </a:rPr>
              <a:t>4</a:t>
            </a:r>
            <a:r>
              <a:rPr lang="en-US" sz="2400" dirty="0" smtClean="0">
                <a:latin typeface="Times New Roman" panose="02020603050405020304" pitchFamily="18" charset="0"/>
                <a:cs typeface="Times New Roman" panose="02020603050405020304" pitchFamily="18" charset="0"/>
              </a:rPr>
              <a:t>/20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1809890" y="2781840"/>
          <a:ext cx="8594500" cy="2998598"/>
        </p:xfrm>
        <a:graphic>
          <a:graphicData uri="http://schemas.openxmlformats.org/drawingml/2006/table">
            <a:tbl>
              <a:tblPr firstRow="1" bandRow="1">
                <a:tableStyleId>{5C22544A-7EE6-4342-B048-85BDC9FD1C3A}</a:tableStyleId>
              </a:tblPr>
              <a:tblGrid>
                <a:gridCol w="2454118"/>
                <a:gridCol w="6140382"/>
              </a:tblGrid>
              <a:tr h="334526">
                <a:tc>
                  <a:txBody>
                    <a:bodyPr/>
                    <a:lstStyle/>
                    <a:p>
                      <a:pPr marL="0" marR="0" algn="just">
                        <a:lnSpc>
                          <a:spcPct val="115000"/>
                        </a:lnSpc>
                        <a:spcBef>
                          <a:spcPts val="0"/>
                        </a:spcBef>
                        <a:spcAft>
                          <a:spcPts val="800"/>
                        </a:spcAft>
                      </a:pPr>
                      <a:r>
                        <a:rPr lang="en-US" sz="2000" dirty="0">
                          <a:effectLst/>
                          <a:latin typeface="Times New Roman" panose="02020603050405020304" pitchFamily="18" charset="0"/>
                          <a:cs typeface="Times New Roman" panose="02020603050405020304" pitchFamily="18" charset="0"/>
                        </a:rPr>
                        <a:t>Attributes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15000"/>
                        </a:lnSpc>
                        <a:spcBef>
                          <a:spcPts val="0"/>
                        </a:spcBef>
                        <a:spcAft>
                          <a:spcPts val="800"/>
                        </a:spcAft>
                      </a:pPr>
                      <a:r>
                        <a:rPr lang="en-US" sz="2000" dirty="0">
                          <a:effectLst/>
                          <a:latin typeface="Times New Roman" panose="02020603050405020304" pitchFamily="18" charset="0"/>
                          <a:cs typeface="Times New Roman" panose="02020603050405020304" pitchFamily="18" charset="0"/>
                        </a:rPr>
                        <a:t>Meaning</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4526">
                <a:tc>
                  <a:txBody>
                    <a:bodyPr/>
                    <a:lstStyle/>
                    <a:p>
                      <a:pPr marL="0" marR="0" algn="just">
                        <a:lnSpc>
                          <a:spcPct val="115000"/>
                        </a:lnSpc>
                        <a:spcBef>
                          <a:spcPts val="0"/>
                        </a:spcBef>
                        <a:spcAft>
                          <a:spcPts val="800"/>
                        </a:spcAft>
                      </a:pPr>
                      <a:r>
                        <a:rPr lang="en-US" sz="2000" dirty="0">
                          <a:effectLst/>
                          <a:latin typeface="Times New Roman" panose="02020603050405020304" pitchFamily="18" charset="0"/>
                          <a:cs typeface="Times New Roman" panose="02020603050405020304" pitchFamily="18" charset="0"/>
                        </a:rPr>
                        <a:t>N</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800"/>
                        </a:spcAft>
                      </a:pPr>
                      <a:r>
                        <a:rPr lang="en-US" sz="2000" dirty="0">
                          <a:effectLst/>
                          <a:latin typeface="Times New Roman" panose="02020603050405020304" pitchFamily="18" charset="0"/>
                          <a:cs typeface="Times New Roman" panose="02020603050405020304" pitchFamily="18" charset="0"/>
                        </a:rPr>
                        <a:t>The ratio of Nitrogen content in soil.</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4526">
                <a:tc>
                  <a:txBody>
                    <a:bodyPr/>
                    <a:lstStyle/>
                    <a:p>
                      <a:pPr marL="0" marR="0" algn="just">
                        <a:lnSpc>
                          <a:spcPct val="115000"/>
                        </a:lnSpc>
                        <a:spcBef>
                          <a:spcPts val="0"/>
                        </a:spcBef>
                        <a:spcAft>
                          <a:spcPts val="800"/>
                        </a:spcAft>
                      </a:pPr>
                      <a:r>
                        <a:rPr lang="en-US" sz="2000" dirty="0">
                          <a:effectLst/>
                          <a:latin typeface="Times New Roman" panose="02020603050405020304" pitchFamily="18" charset="0"/>
                          <a:cs typeface="Times New Roman" panose="02020603050405020304" pitchFamily="18" charset="0"/>
                        </a:rPr>
                        <a:t>P</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800"/>
                        </a:spcAft>
                      </a:pPr>
                      <a:r>
                        <a:rPr lang="en-US" sz="2000" dirty="0">
                          <a:effectLst/>
                          <a:latin typeface="Times New Roman" panose="02020603050405020304" pitchFamily="18" charset="0"/>
                          <a:cs typeface="Times New Roman" panose="02020603050405020304" pitchFamily="18" charset="0"/>
                        </a:rPr>
                        <a:t>The ratio of Phosphorous content in soil.</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16676">
                <a:tc>
                  <a:txBody>
                    <a:bodyPr/>
                    <a:lstStyle/>
                    <a:p>
                      <a:pPr marL="0" marR="0" algn="just">
                        <a:lnSpc>
                          <a:spcPct val="115000"/>
                        </a:lnSpc>
                        <a:spcBef>
                          <a:spcPts val="0"/>
                        </a:spcBef>
                        <a:spcAft>
                          <a:spcPts val="800"/>
                        </a:spcAft>
                      </a:pPr>
                      <a:r>
                        <a:rPr lang="en-US" sz="2000">
                          <a:effectLst/>
                          <a:latin typeface="Times New Roman" panose="02020603050405020304" pitchFamily="18" charset="0"/>
                          <a:cs typeface="Times New Roman" panose="02020603050405020304" pitchFamily="18" charset="0"/>
                        </a:rPr>
                        <a:t>K</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800"/>
                        </a:spcAft>
                      </a:pPr>
                      <a:r>
                        <a:rPr lang="en-US" sz="2000" dirty="0">
                          <a:effectLst/>
                          <a:latin typeface="Times New Roman" panose="02020603050405020304" pitchFamily="18" charset="0"/>
                          <a:cs typeface="Times New Roman" panose="02020603050405020304" pitchFamily="18" charset="0"/>
                        </a:rPr>
                        <a:t>The ratio of Potassium content in soil.</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4526">
                <a:tc>
                  <a:txBody>
                    <a:bodyPr/>
                    <a:lstStyle/>
                    <a:p>
                      <a:pPr marL="0" marR="0" algn="just">
                        <a:lnSpc>
                          <a:spcPct val="115000"/>
                        </a:lnSpc>
                        <a:spcBef>
                          <a:spcPts val="0"/>
                        </a:spcBef>
                        <a:spcAft>
                          <a:spcPts val="800"/>
                        </a:spcAft>
                      </a:pPr>
                      <a:r>
                        <a:rPr lang="en-US" sz="2000">
                          <a:effectLst/>
                          <a:latin typeface="Times New Roman" panose="02020603050405020304" pitchFamily="18" charset="0"/>
                          <a:cs typeface="Times New Roman" panose="02020603050405020304" pitchFamily="18" charset="0"/>
                        </a:rPr>
                        <a:t>temperature</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800"/>
                        </a:spcAft>
                      </a:pPr>
                      <a:r>
                        <a:rPr lang="en-US" sz="2000" dirty="0">
                          <a:effectLst/>
                          <a:latin typeface="Times New Roman" panose="02020603050405020304" pitchFamily="18" charset="0"/>
                          <a:cs typeface="Times New Roman" panose="02020603050405020304" pitchFamily="18" charset="0"/>
                        </a:rPr>
                        <a:t>The temperature in degree Celsius.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4526">
                <a:tc>
                  <a:txBody>
                    <a:bodyPr/>
                    <a:lstStyle/>
                    <a:p>
                      <a:pPr marL="0" marR="0" algn="just">
                        <a:lnSpc>
                          <a:spcPct val="115000"/>
                        </a:lnSpc>
                        <a:spcBef>
                          <a:spcPts val="0"/>
                        </a:spcBef>
                        <a:spcAft>
                          <a:spcPts val="800"/>
                        </a:spcAft>
                      </a:pPr>
                      <a:r>
                        <a:rPr lang="en-US" sz="2000">
                          <a:effectLst/>
                          <a:latin typeface="Times New Roman" panose="02020603050405020304" pitchFamily="18" charset="0"/>
                          <a:cs typeface="Times New Roman" panose="02020603050405020304" pitchFamily="18" charset="0"/>
                        </a:rPr>
                        <a:t>humidity</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800"/>
                        </a:spcAft>
                      </a:pPr>
                      <a:r>
                        <a:rPr lang="en-US" sz="2000" dirty="0">
                          <a:effectLst/>
                          <a:latin typeface="Times New Roman" panose="02020603050405020304" pitchFamily="18" charset="0"/>
                          <a:cs typeface="Times New Roman" panose="02020603050405020304" pitchFamily="18" charset="0"/>
                        </a:rPr>
                        <a:t>Relative humidity in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4526">
                <a:tc>
                  <a:txBody>
                    <a:bodyPr/>
                    <a:lstStyle/>
                    <a:p>
                      <a:pPr marL="0" marR="0" algn="just">
                        <a:lnSpc>
                          <a:spcPct val="115000"/>
                        </a:lnSpc>
                        <a:spcBef>
                          <a:spcPts val="0"/>
                        </a:spcBef>
                        <a:spcAft>
                          <a:spcPts val="800"/>
                        </a:spcAft>
                      </a:pPr>
                      <a:r>
                        <a:rPr lang="en-US" sz="2000">
                          <a:effectLst/>
                          <a:latin typeface="Times New Roman" panose="02020603050405020304" pitchFamily="18" charset="0"/>
                          <a:cs typeface="Times New Roman" panose="02020603050405020304" pitchFamily="18" charset="0"/>
                        </a:rPr>
                        <a:t>ph</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800"/>
                        </a:spcAft>
                      </a:pPr>
                      <a:r>
                        <a:rPr lang="en-US" sz="2000" dirty="0">
                          <a:effectLst/>
                          <a:latin typeface="Times New Roman" panose="02020603050405020304" pitchFamily="18" charset="0"/>
                          <a:cs typeface="Times New Roman" panose="02020603050405020304" pitchFamily="18" charset="0"/>
                        </a:rPr>
                        <a:t>The pH value of the soil.</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4526">
                <a:tc>
                  <a:txBody>
                    <a:bodyPr/>
                    <a:lstStyle/>
                    <a:p>
                      <a:pPr marL="0" marR="0" algn="just">
                        <a:lnSpc>
                          <a:spcPct val="115000"/>
                        </a:lnSpc>
                        <a:spcBef>
                          <a:spcPts val="0"/>
                        </a:spcBef>
                        <a:spcAft>
                          <a:spcPts val="800"/>
                        </a:spcAft>
                      </a:pPr>
                      <a:r>
                        <a:rPr lang="en-US" sz="2000">
                          <a:effectLst/>
                          <a:latin typeface="Times New Roman" panose="02020603050405020304" pitchFamily="18" charset="0"/>
                          <a:cs typeface="Times New Roman" panose="02020603050405020304" pitchFamily="18" charset="0"/>
                        </a:rPr>
                        <a:t>rainfall</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800"/>
                        </a:spcAft>
                      </a:pPr>
                      <a:r>
                        <a:rPr lang="en-US" sz="2000" dirty="0">
                          <a:effectLst/>
                          <a:latin typeface="Times New Roman" panose="02020603050405020304" pitchFamily="18" charset="0"/>
                          <a:cs typeface="Times New Roman" panose="02020603050405020304" pitchFamily="18" charset="0"/>
                        </a:rPr>
                        <a:t>Rainfall in mm.</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4526">
                <a:tc>
                  <a:txBody>
                    <a:bodyPr/>
                    <a:lstStyle/>
                    <a:p>
                      <a:pPr marL="0" marR="0" algn="just">
                        <a:lnSpc>
                          <a:spcPct val="115000"/>
                        </a:lnSpc>
                        <a:spcBef>
                          <a:spcPts val="0"/>
                        </a:spcBef>
                        <a:spcAft>
                          <a:spcPts val="0"/>
                        </a:spcAft>
                      </a:pPr>
                      <a:r>
                        <a:rPr lang="en-US" sz="2000">
                          <a:effectLst/>
                          <a:latin typeface="Times New Roman" panose="02020603050405020304" pitchFamily="18" charset="0"/>
                          <a:cs typeface="Times New Roman" panose="02020603050405020304" pitchFamily="18" charset="0"/>
                        </a:rPr>
                        <a:t>label</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The target attribute, specifying the recommended crop.</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bl>
          </a:graphicData>
        </a:graphic>
      </p:graphicFrame>
      <p:sp>
        <p:nvSpPr>
          <p:cNvPr id="6" name="Content Placeholder 2"/>
          <p:cNvSpPr txBox="1"/>
          <p:nvPr/>
        </p:nvSpPr>
        <p:spPr>
          <a:xfrm>
            <a:off x="3254872" y="5901437"/>
            <a:ext cx="5682255" cy="3990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Clr>
                <a:schemeClr val="dk1"/>
              </a:buClr>
              <a:buSzPts val="2000"/>
              <a:buNone/>
            </a:pPr>
            <a:r>
              <a:rPr lang="en-US" sz="20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 Table. </a:t>
            </a:r>
            <a:r>
              <a:rPr lang="en-US" sz="2000" dirty="0">
                <a:solidFill>
                  <a:schemeClr val="dk1"/>
                </a:solidFill>
                <a:latin typeface="Times New Roman" panose="02020603050405020304" pitchFamily="18" charset="0"/>
                <a:cs typeface="Times New Roman" panose="02020603050405020304" pitchFamily="18" charset="0"/>
                <a:sym typeface="Times New Roman" panose="02020603050405020304"/>
              </a:rPr>
              <a:t>1: Descriptions of the attributes of the dataset</a:t>
            </a:r>
            <a:r>
              <a:rPr lang="en-US" sz="20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a:t>
            </a:r>
            <a:endParaRPr lang="en-US" sz="20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smtClean="0">
                <a:latin typeface="Times New Roman" panose="02020603050405020304" pitchFamily="18" charset="0"/>
                <a:cs typeface="Times New Roman" panose="02020603050405020304" pitchFamily="18" charset="0"/>
              </a:rPr>
              <a:t>Data Frame of the Dataset</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5372099"/>
            <a:ext cx="10515600" cy="804863"/>
          </a:xfrm>
        </p:spPr>
        <p:txBody>
          <a:bodyPr>
            <a:normAutofit/>
          </a:bodyPr>
          <a:lstStyle/>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ctr">
              <a:spcBef>
                <a:spcPts val="0"/>
              </a:spcBef>
              <a:buClr>
                <a:schemeClr val="dk1"/>
              </a:buClr>
              <a:buSzPts val="2000"/>
              <a:buNone/>
            </a:pPr>
            <a:r>
              <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Fig. 2: Data frame of the dataset.</a:t>
            </a: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b="1"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smtClean="0">
                <a:latin typeface="Times New Roman" panose="02020603050405020304" pitchFamily="18" charset="0"/>
                <a:cs typeface="Times New Roman" panose="02020603050405020304" pitchFamily="18" charset="0"/>
              </a:rPr>
              <a:t>5</a:t>
            </a:r>
            <a:r>
              <a:rPr lang="en-US" sz="2400" dirty="0" smtClean="0">
                <a:latin typeface="Times New Roman" panose="02020603050405020304" pitchFamily="18" charset="0"/>
                <a:cs typeface="Times New Roman" panose="02020603050405020304" pitchFamily="18" charset="0"/>
              </a:rPr>
              <a:t>/20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2050" name="Picture 2" descr="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2732" y="1690688"/>
            <a:ext cx="6106535" cy="395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spcBef>
                <a:spcPts val="0"/>
              </a:spcBef>
              <a:buClr>
                <a:schemeClr val="dk1"/>
              </a:buClr>
              <a:buSzPts val="2000"/>
            </a:pPr>
            <a:r>
              <a:rPr lang="en-US" b="1" dirty="0">
                <a:solidFill>
                  <a:schemeClr val="dk1"/>
                </a:solidFill>
                <a:latin typeface="Times New Roman" panose="02020603050405020304" pitchFamily="18" charset="0"/>
                <a:cs typeface="Times New Roman" panose="02020603050405020304" pitchFamily="18" charset="0"/>
                <a:sym typeface="Times New Roman" panose="02020603050405020304"/>
              </a:rPr>
              <a:t>Data Preprocessing</a:t>
            </a:r>
            <a:endParaRPr lang="en-US"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spcAft>
                <a:spcPts val="600"/>
              </a:spcAft>
              <a:buNone/>
            </a:pPr>
            <a:r>
              <a:rPr lang="en-US" sz="2400" dirty="0">
                <a:latin typeface="Times New Roman" panose="02020603050405020304" pitchFamily="18" charset="0"/>
                <a:cs typeface="Times New Roman" panose="02020603050405020304" pitchFamily="18" charset="0"/>
              </a:rPr>
              <a:t>These are the key steps involved in data preprocessing:</a:t>
            </a:r>
            <a:endParaRPr lang="en-US" sz="2400" dirty="0">
              <a:latin typeface="Times New Roman" panose="02020603050405020304" pitchFamily="18" charset="0"/>
              <a:cs typeface="Times New Roman" panose="02020603050405020304" pitchFamily="18" charset="0"/>
            </a:endParaRPr>
          </a:p>
          <a:p>
            <a:pPr lvl="0">
              <a:lnSpc>
                <a:spcPct val="100000"/>
              </a:lnSpc>
            </a:pPr>
            <a:r>
              <a:rPr lang="en-US" sz="2400" dirty="0">
                <a:latin typeface="Times New Roman" panose="02020603050405020304" pitchFamily="18" charset="0"/>
                <a:cs typeface="Times New Roman" panose="02020603050405020304" pitchFamily="18" charset="0"/>
              </a:rPr>
              <a:t>Identifying and removing duplicate records.</a:t>
            </a:r>
            <a:endParaRPr lang="en-US" sz="2400" dirty="0">
              <a:latin typeface="Times New Roman" panose="02020603050405020304" pitchFamily="18" charset="0"/>
              <a:cs typeface="Times New Roman" panose="02020603050405020304" pitchFamily="18" charset="0"/>
            </a:endParaRPr>
          </a:p>
          <a:p>
            <a:pPr lvl="0">
              <a:lnSpc>
                <a:spcPct val="100000"/>
              </a:lnSpc>
            </a:pPr>
            <a:r>
              <a:rPr lang="en-US" sz="2400" dirty="0">
                <a:latin typeface="Times New Roman" panose="02020603050405020304" pitchFamily="18" charset="0"/>
                <a:cs typeface="Times New Roman" panose="02020603050405020304" pitchFamily="18" charset="0"/>
              </a:rPr>
              <a:t>Identifying and handling null and zero (0) values.</a:t>
            </a:r>
            <a:endParaRPr lang="en-US" sz="2400" dirty="0">
              <a:latin typeface="Times New Roman" panose="02020603050405020304" pitchFamily="18" charset="0"/>
              <a:cs typeface="Times New Roman" panose="02020603050405020304" pitchFamily="18" charset="0"/>
            </a:endParaRPr>
          </a:p>
          <a:p>
            <a:pPr lvl="0">
              <a:lnSpc>
                <a:spcPct val="100000"/>
              </a:lnSpc>
            </a:pPr>
            <a:r>
              <a:rPr lang="en-US" sz="2400" dirty="0">
                <a:latin typeface="Times New Roman" panose="02020603050405020304" pitchFamily="18" charset="0"/>
                <a:cs typeface="Times New Roman" panose="02020603050405020304" pitchFamily="18" charset="0"/>
              </a:rPr>
              <a:t>Checking and handling missing values and outliers.</a:t>
            </a:r>
            <a:endParaRPr lang="en-US" sz="2400" dirty="0">
              <a:latin typeface="Times New Roman" panose="02020603050405020304" pitchFamily="18" charset="0"/>
              <a:cs typeface="Times New Roman" panose="02020603050405020304" pitchFamily="18" charset="0"/>
            </a:endParaRPr>
          </a:p>
          <a:p>
            <a:pPr lvl="0">
              <a:lnSpc>
                <a:spcPct val="100000"/>
              </a:lnSpc>
            </a:pPr>
            <a:r>
              <a:rPr lang="en-US" sz="2400" dirty="0">
                <a:latin typeface="Times New Roman" panose="02020603050405020304" pitchFamily="18" charset="0"/>
                <a:cs typeface="Times New Roman" panose="02020603050405020304" pitchFamily="18" charset="0"/>
              </a:rPr>
              <a:t>Encoding categorical </a:t>
            </a:r>
            <a:r>
              <a:rPr lang="en-US" sz="2400" dirty="0" smtClean="0">
                <a:latin typeface="Times New Roman" panose="02020603050405020304" pitchFamily="18" charset="0"/>
                <a:cs typeface="Times New Roman" panose="02020603050405020304" pitchFamily="18" charset="0"/>
              </a:rPr>
              <a:t>attributes</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into a numeric format</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a:lnSpc>
                <a:spcPct val="150000"/>
              </a:lnSpc>
              <a:spcBef>
                <a:spcPts val="0"/>
              </a:spcBef>
              <a:buClr>
                <a:schemeClr val="dk1"/>
              </a:buClr>
              <a:buSzPts val="2000"/>
            </a:pPr>
            <a:endParaRPr lang="en-US" sz="2400" dirty="0" smtClean="0">
              <a:latin typeface="Times New Roman" panose="02020603050405020304" pitchFamily="18" charset="0"/>
              <a:cs typeface="Times New Roman" panose="02020603050405020304" pitchFamily="18" charset="0"/>
            </a:endParaRPr>
          </a:p>
          <a:p>
            <a:pPr marL="0" indent="0">
              <a:lnSpc>
                <a:spcPct val="150000"/>
              </a:lnSpc>
              <a:spcBef>
                <a:spcPts val="0"/>
              </a:spcBef>
              <a:buClr>
                <a:schemeClr val="dk1"/>
              </a:buClr>
              <a:buSzPts val="2000"/>
              <a:buNone/>
            </a:pPr>
            <a:endParaRPr lang="en-US" sz="24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buNone/>
            </a:pPr>
            <a:endParaRPr lang="en-US" sz="2400" b="1"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smtClean="0">
                <a:latin typeface="Times New Roman" panose="02020603050405020304" pitchFamily="18" charset="0"/>
                <a:cs typeface="Times New Roman" panose="02020603050405020304" pitchFamily="18" charset="0"/>
              </a:rPr>
              <a:t>6</a:t>
            </a:r>
            <a:r>
              <a:rPr lang="en-US" sz="2400" dirty="0" smtClean="0">
                <a:latin typeface="Times New Roman" panose="02020603050405020304" pitchFamily="18" charset="0"/>
                <a:cs typeface="Times New Roman" panose="02020603050405020304" pitchFamily="18" charset="0"/>
              </a:rPr>
              <a:t>/20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Visualizing Missing Data</a:t>
            </a:r>
            <a:endParaRPr lang="en-US" sz="4000" b="1" dirty="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smtClean="0">
                <a:latin typeface="Times New Roman" panose="02020603050405020304" pitchFamily="18" charset="0"/>
                <a:cs typeface="Times New Roman" panose="02020603050405020304" pitchFamily="18" charset="0"/>
              </a:rPr>
              <a:t>7</a:t>
            </a:r>
            <a:r>
              <a:rPr lang="en-US" sz="2400" dirty="0" smtClean="0">
                <a:latin typeface="Times New Roman" panose="02020603050405020304" pitchFamily="18" charset="0"/>
                <a:cs typeface="Times New Roman" panose="02020603050405020304" pitchFamily="18" charset="0"/>
              </a:rPr>
              <a:t>/20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9" name="Title 1"/>
          <p:cNvSpPr txBox="1"/>
          <p:nvPr/>
        </p:nvSpPr>
        <p:spPr>
          <a:xfrm>
            <a:off x="838200" y="51403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smtClean="0">
                <a:latin typeface="Times New Roman" panose="02020603050405020304" pitchFamily="18" charset="0"/>
                <a:cs typeface="Times New Roman" panose="02020603050405020304" pitchFamily="18" charset="0"/>
              </a:rPr>
              <a:t>Fig. </a:t>
            </a:r>
            <a:r>
              <a:rPr lang="en-US" sz="2400" dirty="0">
                <a:latin typeface="Times New Roman" panose="02020603050405020304" pitchFamily="18" charset="0"/>
                <a:cs typeface="Times New Roman" panose="02020603050405020304" pitchFamily="18" charset="0"/>
              </a:rPr>
              <a:t>3</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Bar chart of the missing values in the dataset.</a:t>
            </a:r>
            <a:endParaRPr lang="en-US" sz="2400" dirty="0">
              <a:latin typeface="Times New Roman" panose="02020603050405020304" pitchFamily="18" charset="0"/>
              <a:cs typeface="Times New Roman" panose="02020603050405020304" pitchFamily="18" charset="0"/>
            </a:endParaRPr>
          </a:p>
        </p:txBody>
      </p:sp>
      <p:pic>
        <p:nvPicPr>
          <p:cNvPr id="5122" name="Picture 2" descr="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85267" y="1690688"/>
            <a:ext cx="7827225" cy="3982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1125" y="253153"/>
            <a:ext cx="10515600" cy="631653"/>
          </a:xfrm>
        </p:spPr>
        <p:txBody>
          <a:bodyPr>
            <a:normAutofit fontScale="90000"/>
          </a:bodyPr>
          <a:lstStyle/>
          <a:p>
            <a:pPr algn="ctr"/>
            <a:r>
              <a:rPr lang="en-US" sz="4000" b="1" dirty="0" smtClean="0">
                <a:latin typeface="Times New Roman" panose="02020603050405020304" pitchFamily="18" charset="0"/>
                <a:cs typeface="Times New Roman" panose="02020603050405020304" pitchFamily="18" charset="0"/>
              </a:rPr>
              <a:t>Feature Analysis Using Histogram</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1726082"/>
            <a:ext cx="10515600" cy="4916704"/>
          </a:xfrm>
        </p:spPr>
        <p:txBody>
          <a:bodyPr>
            <a:normAutofit/>
          </a:bodyPr>
          <a:lstStyle/>
          <a:p>
            <a:pPr marL="0" indent="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buNone/>
            </a:pPr>
            <a:r>
              <a:rPr lang="en-US" sz="16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	      (a)			(b)			(c)		          (d)</a:t>
            </a:r>
            <a:endParaRPr lang="en-US" sz="16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ctr">
              <a:buNone/>
            </a:pPr>
            <a:endParaRPr lang="en-US" sz="18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ctr">
              <a:buNone/>
            </a:pPr>
            <a:endParaRPr lang="en-US" sz="18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buNone/>
            </a:pPr>
            <a:r>
              <a:rPr lang="en-US" sz="16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	      (e)			(f)			(g)		    </a:t>
            </a:r>
            <a:endParaRPr lang="en-US" sz="16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ctr">
              <a:buNone/>
            </a:pPr>
            <a:r>
              <a:rPr lang="en-US" sz="1800" dirty="0">
                <a:solidFill>
                  <a:schemeClr val="dk1"/>
                </a:solidFill>
                <a:latin typeface="Times New Roman" panose="02020603050405020304" pitchFamily="18" charset="0"/>
                <a:cs typeface="Times New Roman" panose="02020603050405020304" pitchFamily="18" charset="0"/>
                <a:sym typeface="Times New Roman" panose="02020603050405020304"/>
              </a:rPr>
              <a:t>Fig. </a:t>
            </a:r>
            <a:r>
              <a:rPr lang="en-US" sz="18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4: </a:t>
            </a:r>
            <a:r>
              <a:rPr lang="en-US" sz="1800" dirty="0">
                <a:solidFill>
                  <a:schemeClr val="dk1"/>
                </a:solidFill>
                <a:latin typeface="Times New Roman" panose="02020603050405020304" pitchFamily="18" charset="0"/>
                <a:cs typeface="Times New Roman" panose="02020603050405020304" pitchFamily="18" charset="0"/>
                <a:sym typeface="Times New Roman" panose="02020603050405020304"/>
              </a:rPr>
              <a:t>Histogram with KDE of (a) N, (b) P, (c) K, (d) temperature, (e) humidity, (f) </a:t>
            </a:r>
            <a:r>
              <a:rPr lang="en-US" sz="1800" dirty="0" err="1">
                <a:solidFill>
                  <a:schemeClr val="dk1"/>
                </a:solidFill>
                <a:latin typeface="Times New Roman" panose="02020603050405020304" pitchFamily="18" charset="0"/>
                <a:cs typeface="Times New Roman" panose="02020603050405020304" pitchFamily="18" charset="0"/>
                <a:sym typeface="Times New Roman" panose="02020603050405020304"/>
              </a:rPr>
              <a:t>ph</a:t>
            </a:r>
            <a:r>
              <a:rPr lang="en-US" sz="1800" dirty="0">
                <a:solidFill>
                  <a:schemeClr val="dk1"/>
                </a:solidFill>
                <a:latin typeface="Times New Roman" panose="02020603050405020304" pitchFamily="18" charset="0"/>
                <a:cs typeface="Times New Roman" panose="02020603050405020304" pitchFamily="18" charset="0"/>
                <a:sym typeface="Times New Roman" panose="02020603050405020304"/>
              </a:rPr>
              <a:t> and (g) rainfall.</a:t>
            </a:r>
            <a:endParaRPr lang="en-US" sz="1800" b="1" dirty="0">
              <a:latin typeface="Times New Roman" panose="02020603050405020304" pitchFamily="18" charset="0"/>
              <a:cs typeface="Times New Roman" panose="02020603050405020304" pitchFamily="18" charset="0"/>
              <a:sym typeface="Times New Roman" panose="02020603050405020304"/>
            </a:endParaRPr>
          </a:p>
        </p:txBody>
      </p:sp>
      <p:sp>
        <p:nvSpPr>
          <p:cNvPr id="4" name="Subtitle 2"/>
          <p:cNvSpPr txBox="1"/>
          <p:nvPr/>
        </p:nvSpPr>
        <p:spPr>
          <a:xfrm>
            <a:off x="10940878" y="6427572"/>
            <a:ext cx="825843" cy="430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smtClean="0">
                <a:latin typeface="Times New Roman" panose="02020603050405020304" pitchFamily="18" charset="0"/>
                <a:cs typeface="Times New Roman" panose="02020603050405020304" pitchFamily="18" charset="0"/>
              </a:rPr>
              <a:t>8</a:t>
            </a:r>
            <a:r>
              <a:rPr lang="en-US" sz="2400" dirty="0" smtClean="0">
                <a:latin typeface="Times New Roman" panose="02020603050405020304" pitchFamily="18" charset="0"/>
                <a:cs typeface="Times New Roman" panose="02020603050405020304" pitchFamily="18" charset="0"/>
              </a:rPr>
              <a:t>/20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6147" name="Picture 3" descr="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8164" y="1139928"/>
            <a:ext cx="4445000"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4" descr="16"/>
          <p:cNvPicPr>
            <a:picLocks noChangeAspect="1" noChangeArrowheads="1"/>
          </p:cNvPicPr>
          <p:nvPr/>
        </p:nvPicPr>
        <p:blipFill>
          <a:blip r:embed="rId2">
            <a:extLst>
              <a:ext uri="{28A0092B-C50C-407E-A947-70E740481C1C}">
                <a14:useLocalDpi xmlns:a14="http://schemas.microsoft.com/office/drawing/2010/main" val="0"/>
              </a:ext>
            </a:extLst>
          </a:blip>
          <a:srcRect b="6551"/>
          <a:stretch>
            <a:fillRect/>
          </a:stretch>
        </p:blipFill>
        <p:spPr bwMode="auto">
          <a:xfrm>
            <a:off x="6258861" y="1064541"/>
            <a:ext cx="4519240" cy="2114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5" descr="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165" y="3376746"/>
            <a:ext cx="4445000" cy="2175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6" descr="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8861" y="3359162"/>
            <a:ext cx="2334421" cy="219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6497"/>
          </a:xfrm>
        </p:spPr>
        <p:txBody>
          <a:bodyPr>
            <a:normAutofit/>
          </a:bodyPr>
          <a:lstStyle/>
          <a:p>
            <a:pPr algn="ctr"/>
            <a:r>
              <a:rPr lang="en-US" sz="4000" b="1" dirty="0" smtClean="0">
                <a:latin typeface="Times New Roman" panose="02020603050405020304" pitchFamily="18" charset="0"/>
                <a:cs typeface="Times New Roman" panose="02020603050405020304" pitchFamily="18" charset="0"/>
              </a:rPr>
              <a:t>Encoding Target Column “label”</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5285311"/>
            <a:ext cx="10515600" cy="1023739"/>
          </a:xfrm>
        </p:spPr>
        <p:txBody>
          <a:bodyPr>
            <a:normAutofit/>
          </a:bodyPr>
          <a:lstStyle/>
          <a:p>
            <a:pPr marL="0" indent="0" algn="ctr">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ctr">
              <a:buNone/>
            </a:pPr>
            <a:r>
              <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Fig. </a:t>
            </a:r>
            <a:r>
              <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5: </a:t>
            </a:r>
            <a:r>
              <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rPr>
              <a:t>Data frame of the dataset after encoding “label” column to “</a:t>
            </a:r>
            <a:r>
              <a:rPr lang="en-US" sz="2400" dirty="0" err="1">
                <a:solidFill>
                  <a:schemeClr val="dk1"/>
                </a:solidFill>
                <a:latin typeface="Times New Roman" panose="02020603050405020304" pitchFamily="18" charset="0"/>
                <a:cs typeface="Times New Roman" panose="02020603050405020304" pitchFamily="18" charset="0"/>
                <a:sym typeface="Times New Roman" panose="02020603050405020304"/>
              </a:rPr>
              <a:t>crop_number</a:t>
            </a:r>
            <a:r>
              <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rPr>
              <a:t>”.</a:t>
            </a:r>
            <a:endParaRPr lang="en-US" sz="2400" b="1"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smtClean="0">
                <a:latin typeface="Times New Roman" panose="02020603050405020304" pitchFamily="18" charset="0"/>
                <a:cs typeface="Times New Roman" panose="02020603050405020304" pitchFamily="18" charset="0"/>
              </a:rPr>
              <a:t>9</a:t>
            </a:r>
            <a:r>
              <a:rPr lang="en-US" sz="2400" dirty="0" smtClean="0">
                <a:latin typeface="Times New Roman" panose="02020603050405020304" pitchFamily="18" charset="0"/>
                <a:cs typeface="Times New Roman" panose="02020603050405020304" pitchFamily="18" charset="0"/>
              </a:rPr>
              <a:t>/20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7170" name="Picture 2" descr="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74326" y="1332940"/>
            <a:ext cx="6243348" cy="4374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208"/>
            <a:ext cx="10515600" cy="738359"/>
          </a:xfrm>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Feature Analysis (Correlation Matrix)</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4561831"/>
          </a:xfrm>
        </p:spPr>
        <p:txBody>
          <a:bodyPr>
            <a:normAutofit/>
          </a:bodyPr>
          <a:lstStyle/>
          <a:p>
            <a:pPr marL="0" indent="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ctr">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ctr">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ctr">
              <a:buNone/>
            </a:pPr>
            <a:r>
              <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Fig. </a:t>
            </a:r>
            <a:r>
              <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6: </a:t>
            </a:r>
            <a:r>
              <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Correlation Matrix.</a:t>
            </a:r>
            <a:endParaRPr lang="en-US" sz="2400" b="1"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smtClean="0">
                <a:latin typeface="Times New Roman" panose="02020603050405020304" pitchFamily="18" charset="0"/>
                <a:cs typeface="Times New Roman" panose="02020603050405020304" pitchFamily="18" charset="0"/>
              </a:rPr>
              <a:t>10/20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08875" y="1238567"/>
            <a:ext cx="6443363" cy="4550987"/>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98224"/>
            <a:ext cx="10515600" cy="2205868"/>
          </a:xfrm>
        </p:spPr>
        <p:txBody>
          <a:bodyPr>
            <a:normAutofit/>
          </a:bodyPr>
          <a:lstStyle/>
          <a:p>
            <a:pPr algn="ctr"/>
            <a:r>
              <a:rPr lang="en-US" sz="6000" b="1" dirty="0" smtClean="0">
                <a:latin typeface="Times New Roman" panose="02020603050405020304" pitchFamily="18" charset="0"/>
                <a:cs typeface="Times New Roman" panose="02020603050405020304" pitchFamily="18" charset="0"/>
              </a:rPr>
              <a:t>Model Training &amp; Result Analysis</a:t>
            </a:r>
            <a:endParaRPr lang="en-US" sz="32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9389"/>
          </a:xfrm>
        </p:spPr>
        <p:txBody>
          <a:bodyPr>
            <a:normAutofit/>
          </a:bodyPr>
          <a:lstStyle/>
          <a:p>
            <a:pPr algn="ctr">
              <a:spcBef>
                <a:spcPts val="0"/>
              </a:spcBef>
              <a:buClr>
                <a:schemeClr val="dk1"/>
              </a:buClr>
              <a:buSzPts val="2000"/>
            </a:pPr>
            <a:r>
              <a:rPr lang="en-US" sz="3600" b="1"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Logistic Regression Model Performance Analysis</a:t>
            </a:r>
            <a:endParaRPr lang="en-US" sz="36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sp>
        <p:nvSpPr>
          <p:cNvPr id="3" name="Content Placeholder 2"/>
          <p:cNvSpPr>
            <a:spLocks noGrp="1"/>
          </p:cNvSpPr>
          <p:nvPr>
            <p:ph idx="1"/>
          </p:nvPr>
        </p:nvSpPr>
        <p:spPr>
          <a:xfrm>
            <a:off x="838200" y="1444514"/>
            <a:ext cx="10515600" cy="4935504"/>
          </a:xfrm>
        </p:spPr>
        <p:txBody>
          <a:bodyPr>
            <a:normAutofit/>
          </a:bodyPr>
          <a:lstStyle/>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6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r>
              <a:rPr lang="en-US" sz="1600" dirty="0" smtClean="0">
                <a:latin typeface="Times New Roman" panose="02020603050405020304" pitchFamily="18" charset="0"/>
                <a:cs typeface="Times New Roman" panose="02020603050405020304" pitchFamily="18" charset="0"/>
              </a:rPr>
              <a:t>             Fig. </a:t>
            </a:r>
            <a:r>
              <a:rPr lang="en-US" sz="1600" dirty="0" smtClean="0">
                <a:latin typeface="Times New Roman" panose="02020603050405020304" pitchFamily="18" charset="0"/>
                <a:cs typeface="Times New Roman" panose="02020603050405020304" pitchFamily="18" charset="0"/>
              </a:rPr>
              <a:t>7: </a:t>
            </a:r>
            <a:r>
              <a:rPr lang="en-US" sz="1600" dirty="0" smtClean="0">
                <a:latin typeface="Times New Roman" panose="02020603050405020304" pitchFamily="18" charset="0"/>
                <a:cs typeface="Times New Roman" panose="02020603050405020304" pitchFamily="18" charset="0"/>
              </a:rPr>
              <a:t>Confusion </a:t>
            </a:r>
            <a:r>
              <a:rPr lang="en-US" sz="1600" dirty="0">
                <a:latin typeface="Times New Roman" panose="02020603050405020304" pitchFamily="18" charset="0"/>
                <a:cs typeface="Times New Roman" panose="02020603050405020304" pitchFamily="18" charset="0"/>
              </a:rPr>
              <a:t>matrix </a:t>
            </a:r>
            <a:r>
              <a:rPr lang="en-US" sz="1600" dirty="0" smtClean="0">
                <a:latin typeface="Times New Roman" panose="02020603050405020304" pitchFamily="18" charset="0"/>
                <a:cs typeface="Times New Roman" panose="02020603050405020304" pitchFamily="18" charset="0"/>
              </a:rPr>
              <a:t>of </a:t>
            </a:r>
            <a:r>
              <a:rPr lang="en-US" sz="1600" dirty="0">
                <a:latin typeface="Times New Roman" panose="02020603050405020304" pitchFamily="18" charset="0"/>
                <a:cs typeface="Times New Roman" panose="02020603050405020304" pitchFamily="18" charset="0"/>
              </a:rPr>
              <a:t>Logistic </a:t>
            </a:r>
            <a:r>
              <a:rPr lang="en-US" sz="1600" dirty="0" smtClean="0">
                <a:latin typeface="Times New Roman" panose="02020603050405020304" pitchFamily="18" charset="0"/>
                <a:cs typeface="Times New Roman" panose="02020603050405020304" pitchFamily="18" charset="0"/>
              </a:rPr>
              <a:t>Regression.               Table. 2: </a:t>
            </a:r>
            <a:r>
              <a:rPr lang="en-US" sz="1600" dirty="0">
                <a:latin typeface="Times New Roman" panose="02020603050405020304" pitchFamily="18" charset="0"/>
                <a:cs typeface="Times New Roman" panose="02020603050405020304" pitchFamily="18" charset="0"/>
              </a:rPr>
              <a:t>Logistic Regression model’s performance metrics. </a:t>
            </a:r>
            <a:endParaRPr lang="en-US" sz="1600"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2400" dirty="0" smtClean="0">
                <a:solidFill>
                  <a:prstClr val="black"/>
                </a:solidFill>
                <a:latin typeface="Times New Roman" panose="02020603050405020304" pitchFamily="18" charset="0"/>
                <a:cs typeface="Times New Roman" panose="02020603050405020304" pitchFamily="18" charset="0"/>
              </a:rPr>
              <a:t>11/20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8194" name="Picture 2" descr="2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3845" y="1444513"/>
            <a:ext cx="5694219" cy="443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6690012" y="1600068"/>
          <a:ext cx="4250866" cy="3850072"/>
        </p:xfrm>
        <a:graphic>
          <a:graphicData uri="http://schemas.openxmlformats.org/drawingml/2006/table">
            <a:tbl>
              <a:tblPr firstRow="1" firstCol="1" bandRow="1">
                <a:tableStyleId>{5C22544A-7EE6-4342-B048-85BDC9FD1C3A}</a:tableStyleId>
              </a:tblPr>
              <a:tblGrid>
                <a:gridCol w="2124703"/>
                <a:gridCol w="2126163"/>
              </a:tblGrid>
              <a:tr h="862577">
                <a:tc>
                  <a:txBody>
                    <a:bodyPr/>
                    <a:lstStyle/>
                    <a:p>
                      <a:pPr marL="0" marR="0" algn="just">
                        <a:lnSpc>
                          <a:spcPct val="107000"/>
                        </a:lnSpc>
                        <a:spcBef>
                          <a:spcPts val="0"/>
                        </a:spcBef>
                        <a:spcAft>
                          <a:spcPts val="0"/>
                        </a:spcAft>
                      </a:pPr>
                      <a:r>
                        <a:rPr lang="en-US" sz="2000" dirty="0">
                          <a:solidFill>
                            <a:schemeClr val="tx1"/>
                          </a:solidFill>
                          <a:effectLst/>
                        </a:rPr>
                        <a:t>Performance Metrics</a:t>
                      </a:r>
                      <a:endParaRPr lang="en-US" sz="2000" dirty="0">
                        <a:solidFill>
                          <a:schemeClr val="tx1"/>
                        </a:solidFill>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gn="just">
                        <a:lnSpc>
                          <a:spcPct val="107000"/>
                        </a:lnSpc>
                        <a:spcBef>
                          <a:spcPts val="0"/>
                        </a:spcBef>
                        <a:spcAft>
                          <a:spcPts val="0"/>
                        </a:spcAft>
                      </a:pPr>
                      <a:r>
                        <a:rPr lang="en-US" sz="2000" dirty="0" smtClean="0">
                          <a:solidFill>
                            <a:schemeClr val="tx1"/>
                          </a:solidFill>
                          <a:effectLst/>
                        </a:rPr>
                        <a:t>Score </a:t>
                      </a:r>
                      <a:r>
                        <a:rPr lang="en-US" sz="2000" dirty="0">
                          <a:solidFill>
                            <a:schemeClr val="tx1"/>
                          </a:solidFill>
                          <a:effectLst/>
                        </a:rPr>
                        <a:t>(%)</a:t>
                      </a:r>
                      <a:endParaRPr lang="en-US" sz="2000" dirty="0">
                        <a:solidFill>
                          <a:schemeClr val="tx1"/>
                        </a:solidFill>
                        <a:effectLst/>
                        <a:latin typeface="Calibri" panose="020F0502020204030204" pitchFamily="34" charset="0"/>
                        <a:ea typeface="Calibri" panose="020F0502020204030204" pitchFamily="34" charset="0"/>
                        <a:cs typeface="Vrinda"/>
                      </a:endParaRPr>
                    </a:p>
                  </a:txBody>
                  <a:tcPr marL="68580" marR="68580" marT="0" marB="0"/>
                </a:tc>
              </a:tr>
              <a:tr h="597499">
                <a:tc>
                  <a:txBody>
                    <a:bodyPr/>
                    <a:lstStyle/>
                    <a:p>
                      <a:pPr marL="0" marR="0" algn="just">
                        <a:lnSpc>
                          <a:spcPct val="107000"/>
                        </a:lnSpc>
                        <a:spcBef>
                          <a:spcPts val="0"/>
                        </a:spcBef>
                        <a:spcAft>
                          <a:spcPts val="0"/>
                        </a:spcAft>
                      </a:pPr>
                      <a:r>
                        <a:rPr lang="en-US" sz="2000" dirty="0">
                          <a:effectLst/>
                        </a:rPr>
                        <a:t>Train Accuracy</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gn="just">
                        <a:lnSpc>
                          <a:spcPct val="107000"/>
                        </a:lnSpc>
                        <a:spcBef>
                          <a:spcPts val="0"/>
                        </a:spcBef>
                        <a:spcAft>
                          <a:spcPts val="0"/>
                        </a:spcAft>
                      </a:pPr>
                      <a:r>
                        <a:rPr lang="en-US" sz="2000" dirty="0">
                          <a:effectLst/>
                        </a:rPr>
                        <a:t>94.77</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r>
              <a:tr h="597499">
                <a:tc>
                  <a:txBody>
                    <a:bodyPr/>
                    <a:lstStyle/>
                    <a:p>
                      <a:pPr marL="0" marR="0" algn="just">
                        <a:lnSpc>
                          <a:spcPct val="107000"/>
                        </a:lnSpc>
                        <a:spcBef>
                          <a:spcPts val="0"/>
                        </a:spcBef>
                        <a:spcAft>
                          <a:spcPts val="0"/>
                        </a:spcAft>
                      </a:pPr>
                      <a:r>
                        <a:rPr lang="en-US" sz="2000" dirty="0">
                          <a:effectLst/>
                        </a:rPr>
                        <a:t>Test Accuracy</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gn="just">
                        <a:lnSpc>
                          <a:spcPct val="107000"/>
                        </a:lnSpc>
                        <a:spcBef>
                          <a:spcPts val="0"/>
                        </a:spcBef>
                        <a:spcAft>
                          <a:spcPts val="0"/>
                        </a:spcAft>
                      </a:pPr>
                      <a:r>
                        <a:rPr lang="en-US" sz="2000">
                          <a:effectLst/>
                        </a:rPr>
                        <a:t>91.82</a:t>
                      </a:r>
                      <a:endParaRPr lang="en-US" sz="2000">
                        <a:effectLst/>
                        <a:latin typeface="Calibri" panose="020F0502020204030204" pitchFamily="34" charset="0"/>
                        <a:ea typeface="Calibri" panose="020F0502020204030204" pitchFamily="34" charset="0"/>
                        <a:cs typeface="Vrinda"/>
                      </a:endParaRPr>
                    </a:p>
                  </a:txBody>
                  <a:tcPr marL="68580" marR="68580" marT="0" marB="0"/>
                </a:tc>
              </a:tr>
              <a:tr h="597499">
                <a:tc>
                  <a:txBody>
                    <a:bodyPr/>
                    <a:lstStyle/>
                    <a:p>
                      <a:pPr marL="0" marR="0" algn="just">
                        <a:lnSpc>
                          <a:spcPct val="107000"/>
                        </a:lnSpc>
                        <a:spcBef>
                          <a:spcPts val="0"/>
                        </a:spcBef>
                        <a:spcAft>
                          <a:spcPts val="0"/>
                        </a:spcAft>
                      </a:pPr>
                      <a:r>
                        <a:rPr lang="en-US" sz="2000">
                          <a:effectLst/>
                        </a:rPr>
                        <a:t>Precision</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gn="just">
                        <a:lnSpc>
                          <a:spcPct val="107000"/>
                        </a:lnSpc>
                        <a:spcBef>
                          <a:spcPts val="0"/>
                        </a:spcBef>
                        <a:spcAft>
                          <a:spcPts val="0"/>
                        </a:spcAft>
                      </a:pPr>
                      <a:r>
                        <a:rPr lang="en-US" sz="2000">
                          <a:effectLst/>
                        </a:rPr>
                        <a:t>91.82</a:t>
                      </a:r>
                      <a:endParaRPr lang="en-US" sz="2000">
                        <a:effectLst/>
                        <a:latin typeface="Calibri" panose="020F0502020204030204" pitchFamily="34" charset="0"/>
                        <a:ea typeface="Calibri" panose="020F0502020204030204" pitchFamily="34" charset="0"/>
                        <a:cs typeface="Vrinda"/>
                      </a:endParaRPr>
                    </a:p>
                  </a:txBody>
                  <a:tcPr marL="68580" marR="68580" marT="0" marB="0"/>
                </a:tc>
              </a:tr>
              <a:tr h="597499">
                <a:tc>
                  <a:txBody>
                    <a:bodyPr/>
                    <a:lstStyle/>
                    <a:p>
                      <a:pPr marL="0" marR="0" algn="just">
                        <a:lnSpc>
                          <a:spcPct val="107000"/>
                        </a:lnSpc>
                        <a:spcBef>
                          <a:spcPts val="0"/>
                        </a:spcBef>
                        <a:spcAft>
                          <a:spcPts val="0"/>
                        </a:spcAft>
                      </a:pPr>
                      <a:r>
                        <a:rPr lang="en-US" sz="2000" dirty="0">
                          <a:effectLst/>
                        </a:rPr>
                        <a:t>Recall</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gn="just">
                        <a:lnSpc>
                          <a:spcPct val="107000"/>
                        </a:lnSpc>
                        <a:spcBef>
                          <a:spcPts val="0"/>
                        </a:spcBef>
                        <a:spcAft>
                          <a:spcPts val="0"/>
                        </a:spcAft>
                      </a:pPr>
                      <a:r>
                        <a:rPr lang="en-US" sz="2000" dirty="0">
                          <a:effectLst/>
                        </a:rPr>
                        <a:t>91.82</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r>
              <a:tr h="597499">
                <a:tc>
                  <a:txBody>
                    <a:bodyPr/>
                    <a:lstStyle/>
                    <a:p>
                      <a:pPr marL="0" marR="0" algn="just">
                        <a:lnSpc>
                          <a:spcPct val="107000"/>
                        </a:lnSpc>
                        <a:spcBef>
                          <a:spcPts val="0"/>
                        </a:spcBef>
                        <a:spcAft>
                          <a:spcPts val="0"/>
                        </a:spcAft>
                      </a:pPr>
                      <a:r>
                        <a:rPr lang="en-US" sz="2000" dirty="0">
                          <a:effectLst/>
                        </a:rPr>
                        <a:t>F1-Score</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gn="just">
                        <a:lnSpc>
                          <a:spcPct val="107000"/>
                        </a:lnSpc>
                        <a:spcBef>
                          <a:spcPts val="0"/>
                        </a:spcBef>
                        <a:spcAft>
                          <a:spcPts val="0"/>
                        </a:spcAft>
                      </a:pPr>
                      <a:r>
                        <a:rPr lang="en-US" sz="2000" dirty="0">
                          <a:effectLst/>
                        </a:rPr>
                        <a:t>91.82</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9389"/>
          </a:xfrm>
        </p:spPr>
        <p:txBody>
          <a:bodyPr>
            <a:normAutofit/>
          </a:bodyPr>
          <a:lstStyle/>
          <a:p>
            <a:pPr algn="ctr">
              <a:spcBef>
                <a:spcPts val="0"/>
              </a:spcBef>
              <a:buClr>
                <a:schemeClr val="dk1"/>
              </a:buClr>
              <a:buSzPts val="2000"/>
            </a:pPr>
            <a:r>
              <a:rPr lang="en-US" sz="3200" b="1" dirty="0">
                <a:solidFill>
                  <a:schemeClr val="dk1"/>
                </a:solidFill>
                <a:latin typeface="Times New Roman" panose="02020603050405020304" pitchFamily="18" charset="0"/>
                <a:cs typeface="Times New Roman" panose="02020603050405020304" pitchFamily="18" charset="0"/>
                <a:sym typeface="Times New Roman" panose="02020603050405020304"/>
              </a:rPr>
              <a:t>K-Nearest Neighbors (KNN) Model </a:t>
            </a:r>
            <a:r>
              <a:rPr lang="en-US" sz="3200" b="1"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Performance Analysis</a:t>
            </a:r>
            <a:endParaRPr lang="en-US" sz="32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sp>
        <p:nvSpPr>
          <p:cNvPr id="3" name="Content Placeholder 2"/>
          <p:cNvSpPr>
            <a:spLocks noGrp="1"/>
          </p:cNvSpPr>
          <p:nvPr>
            <p:ph idx="1"/>
          </p:nvPr>
        </p:nvSpPr>
        <p:spPr>
          <a:xfrm>
            <a:off x="838200" y="1444514"/>
            <a:ext cx="10515600" cy="4732449"/>
          </a:xfrm>
        </p:spPr>
        <p:txBody>
          <a:bodyPr>
            <a:normAutofit/>
          </a:bodyPr>
          <a:lstStyle/>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6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r>
              <a:rPr lang="en-US" sz="1600" dirty="0" smtClean="0">
                <a:latin typeface="Times New Roman" panose="02020603050405020304" pitchFamily="18" charset="0"/>
                <a:cs typeface="Times New Roman" panose="02020603050405020304" pitchFamily="18" charset="0"/>
              </a:rPr>
              <a:t>                          Fig. </a:t>
            </a:r>
            <a:r>
              <a:rPr lang="en-US" sz="1600" dirty="0">
                <a:latin typeface="Times New Roman" panose="02020603050405020304" pitchFamily="18" charset="0"/>
                <a:cs typeface="Times New Roman" panose="02020603050405020304" pitchFamily="18" charset="0"/>
              </a:rPr>
              <a:t>8</a:t>
            </a:r>
            <a:r>
              <a:rPr lang="en-US" sz="160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Confusion </a:t>
            </a:r>
            <a:r>
              <a:rPr lang="en-US" sz="1600" dirty="0">
                <a:latin typeface="Times New Roman" panose="02020603050405020304" pitchFamily="18" charset="0"/>
                <a:cs typeface="Times New Roman" panose="02020603050405020304" pitchFamily="18" charset="0"/>
              </a:rPr>
              <a:t>matrix </a:t>
            </a:r>
            <a:r>
              <a:rPr lang="en-US" sz="1600" dirty="0" smtClean="0">
                <a:latin typeface="Times New Roman" panose="02020603050405020304" pitchFamily="18" charset="0"/>
                <a:cs typeface="Times New Roman" panose="02020603050405020304" pitchFamily="18" charset="0"/>
              </a:rPr>
              <a:t>of KNN.               	        Table</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3 : KNN model’s </a:t>
            </a:r>
            <a:r>
              <a:rPr lang="en-US" sz="1600" dirty="0">
                <a:latin typeface="Times New Roman" panose="02020603050405020304" pitchFamily="18" charset="0"/>
                <a:cs typeface="Times New Roman" panose="02020603050405020304" pitchFamily="18" charset="0"/>
              </a:rPr>
              <a:t>performance metrics. </a:t>
            </a:r>
            <a:endParaRPr lang="en-US" sz="1600"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2400" dirty="0" smtClean="0">
                <a:solidFill>
                  <a:prstClr val="black"/>
                </a:solidFill>
                <a:latin typeface="Times New Roman" panose="02020603050405020304" pitchFamily="18" charset="0"/>
                <a:cs typeface="Times New Roman" panose="02020603050405020304" pitchFamily="18" charset="0"/>
              </a:rPr>
              <a:t>12/20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9218" name="Picture 2" descr="2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3299" y="1444513"/>
            <a:ext cx="5543983" cy="422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le 5"/>
          <p:cNvGraphicFramePr>
            <a:graphicFrameLocks noGrp="1"/>
          </p:cNvGraphicFramePr>
          <p:nvPr/>
        </p:nvGraphicFramePr>
        <p:xfrm>
          <a:off x="6590000" y="1604977"/>
          <a:ext cx="4330845" cy="3925933"/>
        </p:xfrm>
        <a:graphic>
          <a:graphicData uri="http://schemas.openxmlformats.org/drawingml/2006/table">
            <a:tbl>
              <a:tblPr firstRow="1" firstCol="1" bandRow="1">
                <a:tableStyleId>{5C22544A-7EE6-4342-B048-85BDC9FD1C3A}</a:tableStyleId>
              </a:tblPr>
              <a:tblGrid>
                <a:gridCol w="2164679"/>
                <a:gridCol w="2166166"/>
              </a:tblGrid>
              <a:tr h="743368">
                <a:tc>
                  <a:txBody>
                    <a:bodyPr/>
                    <a:lstStyle/>
                    <a:p>
                      <a:pPr marL="0" marR="0">
                        <a:lnSpc>
                          <a:spcPct val="107000"/>
                        </a:lnSpc>
                        <a:spcBef>
                          <a:spcPts val="0"/>
                        </a:spcBef>
                        <a:spcAft>
                          <a:spcPts val="0"/>
                        </a:spcAft>
                      </a:pPr>
                      <a:r>
                        <a:rPr lang="en-US" sz="2000" dirty="0">
                          <a:solidFill>
                            <a:schemeClr val="tx1"/>
                          </a:solidFill>
                          <a:effectLst/>
                          <a:latin typeface="+mn-lt"/>
                          <a:cs typeface="Times New Roman" panose="02020603050405020304" pitchFamily="18" charset="0"/>
                        </a:rPr>
                        <a:t>Performance Metrics</a:t>
                      </a:r>
                      <a:endParaRPr lang="en-US" sz="200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solidFill>
                            <a:schemeClr val="tx1"/>
                          </a:solidFill>
                          <a:effectLst/>
                          <a:latin typeface="+mn-lt"/>
                          <a:cs typeface="Times New Roman" panose="02020603050405020304" pitchFamily="18" charset="0"/>
                        </a:rPr>
                        <a:t>Score (%)</a:t>
                      </a:r>
                      <a:endParaRPr lang="en-US" sz="200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tc>
              </a:tr>
              <a:tr h="636513">
                <a:tc>
                  <a:txBody>
                    <a:bodyPr/>
                    <a:lstStyle/>
                    <a:p>
                      <a:pPr marL="0" marR="0">
                        <a:lnSpc>
                          <a:spcPct val="107000"/>
                        </a:lnSpc>
                        <a:spcBef>
                          <a:spcPts val="0"/>
                        </a:spcBef>
                        <a:spcAft>
                          <a:spcPts val="0"/>
                        </a:spcAft>
                      </a:pPr>
                      <a:r>
                        <a:rPr lang="en-US" sz="2000">
                          <a:effectLst/>
                          <a:latin typeface="+mn-lt"/>
                          <a:cs typeface="Times New Roman" panose="02020603050405020304" pitchFamily="18" charset="0"/>
                        </a:rPr>
                        <a:t>Train Accuracy</a:t>
                      </a:r>
                      <a:endParaRPr lang="en-US" sz="200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a:effectLst/>
                          <a:latin typeface="+mn-lt"/>
                          <a:cs typeface="Times New Roman" panose="02020603050405020304" pitchFamily="18" charset="0"/>
                        </a:rPr>
                        <a:t>99.09</a:t>
                      </a:r>
                      <a:endParaRPr lang="en-US" sz="2000">
                        <a:effectLst/>
                        <a:latin typeface="+mn-lt"/>
                        <a:ea typeface="Calibri" panose="020F0502020204030204" pitchFamily="34" charset="0"/>
                        <a:cs typeface="Times New Roman" panose="02020603050405020304" pitchFamily="18" charset="0"/>
                      </a:endParaRPr>
                    </a:p>
                  </a:txBody>
                  <a:tcPr marL="68580" marR="68580" marT="0" marB="0"/>
                </a:tc>
              </a:tr>
              <a:tr h="636513">
                <a:tc>
                  <a:txBody>
                    <a:bodyPr/>
                    <a:lstStyle/>
                    <a:p>
                      <a:pPr marL="0" marR="0">
                        <a:lnSpc>
                          <a:spcPct val="107000"/>
                        </a:lnSpc>
                        <a:spcBef>
                          <a:spcPts val="0"/>
                        </a:spcBef>
                        <a:spcAft>
                          <a:spcPts val="0"/>
                        </a:spcAft>
                      </a:pPr>
                      <a:r>
                        <a:rPr lang="en-US" sz="2000">
                          <a:effectLst/>
                          <a:latin typeface="+mn-lt"/>
                          <a:cs typeface="Times New Roman" panose="02020603050405020304" pitchFamily="18" charset="0"/>
                        </a:rPr>
                        <a:t>Test Accuracy</a:t>
                      </a:r>
                      <a:endParaRPr lang="en-US" sz="200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latin typeface="+mn-lt"/>
                          <a:cs typeface="Times New Roman" panose="02020603050405020304" pitchFamily="18" charset="0"/>
                        </a:rPr>
                        <a:t>96.82</a:t>
                      </a:r>
                      <a:endParaRPr lang="en-US" sz="2000" dirty="0">
                        <a:effectLst/>
                        <a:latin typeface="+mn-lt"/>
                        <a:ea typeface="Calibri" panose="020F0502020204030204" pitchFamily="34" charset="0"/>
                        <a:cs typeface="Times New Roman" panose="02020603050405020304" pitchFamily="18" charset="0"/>
                      </a:endParaRPr>
                    </a:p>
                  </a:txBody>
                  <a:tcPr marL="68580" marR="68580" marT="0" marB="0"/>
                </a:tc>
              </a:tr>
              <a:tr h="636513">
                <a:tc>
                  <a:txBody>
                    <a:bodyPr/>
                    <a:lstStyle/>
                    <a:p>
                      <a:pPr marL="0" marR="0">
                        <a:lnSpc>
                          <a:spcPct val="107000"/>
                        </a:lnSpc>
                        <a:spcBef>
                          <a:spcPts val="0"/>
                        </a:spcBef>
                        <a:spcAft>
                          <a:spcPts val="0"/>
                        </a:spcAft>
                      </a:pPr>
                      <a:r>
                        <a:rPr lang="en-US" sz="2000">
                          <a:effectLst/>
                          <a:latin typeface="+mn-lt"/>
                          <a:cs typeface="Times New Roman" panose="02020603050405020304" pitchFamily="18" charset="0"/>
                        </a:rPr>
                        <a:t>Precision</a:t>
                      </a:r>
                      <a:endParaRPr lang="en-US" sz="200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a:effectLst/>
                          <a:latin typeface="+mn-lt"/>
                          <a:cs typeface="Times New Roman" panose="02020603050405020304" pitchFamily="18" charset="0"/>
                        </a:rPr>
                        <a:t>96.82</a:t>
                      </a:r>
                      <a:endParaRPr lang="en-US" sz="2000">
                        <a:effectLst/>
                        <a:latin typeface="+mn-lt"/>
                        <a:ea typeface="Calibri" panose="020F0502020204030204" pitchFamily="34" charset="0"/>
                        <a:cs typeface="Times New Roman" panose="02020603050405020304" pitchFamily="18" charset="0"/>
                      </a:endParaRPr>
                    </a:p>
                  </a:txBody>
                  <a:tcPr marL="68580" marR="68580" marT="0" marB="0"/>
                </a:tc>
              </a:tr>
              <a:tr h="636513">
                <a:tc>
                  <a:txBody>
                    <a:bodyPr/>
                    <a:lstStyle/>
                    <a:p>
                      <a:pPr marL="0" marR="0">
                        <a:lnSpc>
                          <a:spcPct val="107000"/>
                        </a:lnSpc>
                        <a:spcBef>
                          <a:spcPts val="0"/>
                        </a:spcBef>
                        <a:spcAft>
                          <a:spcPts val="0"/>
                        </a:spcAft>
                      </a:pPr>
                      <a:r>
                        <a:rPr lang="en-US" sz="2000">
                          <a:effectLst/>
                          <a:latin typeface="+mn-lt"/>
                          <a:cs typeface="Times New Roman" panose="02020603050405020304" pitchFamily="18" charset="0"/>
                        </a:rPr>
                        <a:t>Recall</a:t>
                      </a:r>
                      <a:endParaRPr lang="en-US" sz="200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latin typeface="+mn-lt"/>
                          <a:cs typeface="Times New Roman" panose="02020603050405020304" pitchFamily="18" charset="0"/>
                        </a:rPr>
                        <a:t>96.82</a:t>
                      </a:r>
                      <a:endParaRPr lang="en-US" sz="2000" dirty="0">
                        <a:effectLst/>
                        <a:latin typeface="+mn-lt"/>
                        <a:ea typeface="Calibri" panose="020F0502020204030204" pitchFamily="34" charset="0"/>
                        <a:cs typeface="Times New Roman" panose="02020603050405020304" pitchFamily="18" charset="0"/>
                      </a:endParaRPr>
                    </a:p>
                  </a:txBody>
                  <a:tcPr marL="68580" marR="68580" marT="0" marB="0"/>
                </a:tc>
              </a:tr>
              <a:tr h="636513">
                <a:tc>
                  <a:txBody>
                    <a:bodyPr/>
                    <a:lstStyle/>
                    <a:p>
                      <a:pPr marL="0" marR="0">
                        <a:lnSpc>
                          <a:spcPct val="107000"/>
                        </a:lnSpc>
                        <a:spcBef>
                          <a:spcPts val="0"/>
                        </a:spcBef>
                        <a:spcAft>
                          <a:spcPts val="0"/>
                        </a:spcAft>
                      </a:pPr>
                      <a:r>
                        <a:rPr lang="en-US" sz="2000">
                          <a:effectLst/>
                          <a:latin typeface="+mn-lt"/>
                          <a:cs typeface="Times New Roman" panose="02020603050405020304" pitchFamily="18" charset="0"/>
                        </a:rPr>
                        <a:t>F1-Score</a:t>
                      </a:r>
                      <a:endParaRPr lang="en-US" sz="200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latin typeface="+mn-lt"/>
                          <a:cs typeface="Times New Roman" panose="02020603050405020304" pitchFamily="18" charset="0"/>
                        </a:rPr>
                        <a:t>96.82</a:t>
                      </a:r>
                      <a:endParaRPr lang="en-US" sz="2000" dirty="0">
                        <a:effectLst/>
                        <a:latin typeface="+mn-lt"/>
                        <a:ea typeface="Calibri" panose="020F0502020204030204" pitchFamily="34" charset="0"/>
                        <a:cs typeface="Times New Roman" panose="02020603050405020304" pitchFamily="18" charset="0"/>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9389"/>
          </a:xfrm>
        </p:spPr>
        <p:txBody>
          <a:bodyPr>
            <a:normAutofit/>
          </a:bodyPr>
          <a:lstStyle/>
          <a:p>
            <a:pPr algn="ctr">
              <a:spcBef>
                <a:spcPts val="0"/>
              </a:spcBef>
              <a:buClr>
                <a:schemeClr val="dk1"/>
              </a:buClr>
              <a:buSzPts val="2000"/>
            </a:pPr>
            <a:r>
              <a:rPr lang="en-US" sz="3600" b="1" dirty="0">
                <a:solidFill>
                  <a:schemeClr val="dk1"/>
                </a:solidFill>
                <a:latin typeface="Times New Roman" panose="02020603050405020304" pitchFamily="18" charset="0"/>
                <a:cs typeface="Times New Roman" panose="02020603050405020304" pitchFamily="18" charset="0"/>
                <a:sym typeface="Times New Roman" panose="02020603050405020304"/>
              </a:rPr>
              <a:t>Gaussian Naïve </a:t>
            </a:r>
            <a:r>
              <a:rPr lang="en-US" sz="3600" b="1"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Bayes Model Performance Analysis</a:t>
            </a:r>
            <a:endParaRPr lang="en-US" sz="36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sp>
        <p:nvSpPr>
          <p:cNvPr id="3" name="Content Placeholder 2"/>
          <p:cNvSpPr>
            <a:spLocks noGrp="1"/>
          </p:cNvSpPr>
          <p:nvPr>
            <p:ph idx="1"/>
          </p:nvPr>
        </p:nvSpPr>
        <p:spPr>
          <a:xfrm>
            <a:off x="838200" y="1444514"/>
            <a:ext cx="10515600" cy="4364004"/>
          </a:xfrm>
        </p:spPr>
        <p:txBody>
          <a:bodyPr>
            <a:normAutofit/>
          </a:bodyPr>
          <a:lstStyle/>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600"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2400" dirty="0" smtClean="0">
                <a:solidFill>
                  <a:prstClr val="black"/>
                </a:solidFill>
                <a:latin typeface="Times New Roman" panose="02020603050405020304" pitchFamily="18" charset="0"/>
                <a:cs typeface="Times New Roman" panose="02020603050405020304" pitchFamily="18" charset="0"/>
              </a:rPr>
              <a:t>13/20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1266" name="Picture 2" descr="2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1655330"/>
            <a:ext cx="5541818" cy="408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le 5"/>
          <p:cNvGraphicFramePr>
            <a:graphicFrameLocks noGrp="1"/>
          </p:cNvGraphicFramePr>
          <p:nvPr/>
        </p:nvGraphicFramePr>
        <p:xfrm>
          <a:off x="6795655" y="1655330"/>
          <a:ext cx="4166754" cy="3966127"/>
        </p:xfrm>
        <a:graphic>
          <a:graphicData uri="http://schemas.openxmlformats.org/drawingml/2006/table">
            <a:tbl>
              <a:tblPr firstRow="1" firstCol="1" bandRow="1">
                <a:tableStyleId>{5C22544A-7EE6-4342-B048-85BDC9FD1C3A}</a:tableStyleId>
              </a:tblPr>
              <a:tblGrid>
                <a:gridCol w="2145538"/>
                <a:gridCol w="2021216"/>
              </a:tblGrid>
              <a:tr h="765752">
                <a:tc>
                  <a:txBody>
                    <a:bodyPr/>
                    <a:lstStyle/>
                    <a:p>
                      <a:pPr marL="0" marR="0">
                        <a:lnSpc>
                          <a:spcPct val="107000"/>
                        </a:lnSpc>
                        <a:spcBef>
                          <a:spcPts val="0"/>
                        </a:spcBef>
                        <a:spcAft>
                          <a:spcPts val="0"/>
                        </a:spcAft>
                      </a:pPr>
                      <a:r>
                        <a:rPr lang="en-US" sz="2000" dirty="0">
                          <a:solidFill>
                            <a:schemeClr val="tx1"/>
                          </a:solidFill>
                          <a:effectLst/>
                        </a:rPr>
                        <a:t>Performance Metrics</a:t>
                      </a:r>
                      <a:endParaRPr lang="en-US" sz="2000" dirty="0">
                        <a:solidFill>
                          <a:schemeClr val="tx1"/>
                        </a:solidFill>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solidFill>
                            <a:schemeClr val="tx1"/>
                          </a:solidFill>
                          <a:effectLst/>
                        </a:rPr>
                        <a:t>Score (%)</a:t>
                      </a:r>
                      <a:endParaRPr lang="en-US" sz="2000" dirty="0">
                        <a:solidFill>
                          <a:schemeClr val="tx1"/>
                        </a:solidFill>
                        <a:effectLst/>
                        <a:latin typeface="Calibri" panose="020F0502020204030204" pitchFamily="34" charset="0"/>
                        <a:ea typeface="Calibri" panose="020F0502020204030204" pitchFamily="34" charset="0"/>
                        <a:cs typeface="Vrinda"/>
                      </a:endParaRPr>
                    </a:p>
                  </a:txBody>
                  <a:tcPr marL="68580" marR="68580" marT="0" marB="0"/>
                </a:tc>
              </a:tr>
              <a:tr h="640075">
                <a:tc>
                  <a:txBody>
                    <a:bodyPr/>
                    <a:lstStyle/>
                    <a:p>
                      <a:pPr marL="0" marR="0">
                        <a:lnSpc>
                          <a:spcPct val="107000"/>
                        </a:lnSpc>
                        <a:spcBef>
                          <a:spcPts val="0"/>
                        </a:spcBef>
                        <a:spcAft>
                          <a:spcPts val="0"/>
                        </a:spcAft>
                      </a:pPr>
                      <a:r>
                        <a:rPr lang="en-US" sz="2000">
                          <a:effectLst/>
                        </a:rPr>
                        <a:t>Train Accuracy</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effectLst/>
                        </a:rPr>
                        <a:t>99.49</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r>
              <a:tr h="640075">
                <a:tc>
                  <a:txBody>
                    <a:bodyPr/>
                    <a:lstStyle/>
                    <a:p>
                      <a:pPr marL="0" marR="0">
                        <a:lnSpc>
                          <a:spcPct val="107000"/>
                        </a:lnSpc>
                        <a:spcBef>
                          <a:spcPts val="0"/>
                        </a:spcBef>
                        <a:spcAft>
                          <a:spcPts val="0"/>
                        </a:spcAft>
                      </a:pPr>
                      <a:r>
                        <a:rPr lang="en-US" sz="2000">
                          <a:effectLst/>
                        </a:rPr>
                        <a:t>Test Accuracy</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effectLst/>
                        </a:rPr>
                        <a:t>99.55</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r>
              <a:tr h="640075">
                <a:tc>
                  <a:txBody>
                    <a:bodyPr/>
                    <a:lstStyle/>
                    <a:p>
                      <a:pPr marL="0" marR="0">
                        <a:lnSpc>
                          <a:spcPct val="107000"/>
                        </a:lnSpc>
                        <a:spcBef>
                          <a:spcPts val="0"/>
                        </a:spcBef>
                        <a:spcAft>
                          <a:spcPts val="0"/>
                        </a:spcAft>
                      </a:pPr>
                      <a:r>
                        <a:rPr lang="en-US" sz="2000" dirty="0">
                          <a:effectLst/>
                        </a:rPr>
                        <a:t>Precision</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a:effectLst/>
                        </a:rPr>
                        <a:t>99.55</a:t>
                      </a:r>
                      <a:endParaRPr lang="en-US" sz="2000">
                        <a:effectLst/>
                        <a:latin typeface="Calibri" panose="020F0502020204030204" pitchFamily="34" charset="0"/>
                        <a:ea typeface="Calibri" panose="020F0502020204030204" pitchFamily="34" charset="0"/>
                        <a:cs typeface="Vrinda"/>
                      </a:endParaRPr>
                    </a:p>
                  </a:txBody>
                  <a:tcPr marL="68580" marR="68580" marT="0" marB="0"/>
                </a:tc>
              </a:tr>
              <a:tr h="640075">
                <a:tc>
                  <a:txBody>
                    <a:bodyPr/>
                    <a:lstStyle/>
                    <a:p>
                      <a:pPr marL="0" marR="0">
                        <a:lnSpc>
                          <a:spcPct val="107000"/>
                        </a:lnSpc>
                        <a:spcBef>
                          <a:spcPts val="0"/>
                        </a:spcBef>
                        <a:spcAft>
                          <a:spcPts val="0"/>
                        </a:spcAft>
                      </a:pPr>
                      <a:r>
                        <a:rPr lang="en-US" sz="2000">
                          <a:effectLst/>
                        </a:rPr>
                        <a:t>Recall</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effectLst/>
                        </a:rPr>
                        <a:t>99.55</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r>
              <a:tr h="640075">
                <a:tc>
                  <a:txBody>
                    <a:bodyPr/>
                    <a:lstStyle/>
                    <a:p>
                      <a:pPr marL="0" marR="0">
                        <a:lnSpc>
                          <a:spcPct val="107000"/>
                        </a:lnSpc>
                        <a:spcBef>
                          <a:spcPts val="0"/>
                        </a:spcBef>
                        <a:spcAft>
                          <a:spcPts val="0"/>
                        </a:spcAft>
                      </a:pPr>
                      <a:r>
                        <a:rPr lang="en-US" sz="2000">
                          <a:effectLst/>
                        </a:rPr>
                        <a:t>F1-Score</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effectLst/>
                        </a:rPr>
                        <a:t>99.55</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r>
            </a:tbl>
          </a:graphicData>
        </a:graphic>
      </p:graphicFrame>
      <p:sp>
        <p:nvSpPr>
          <p:cNvPr id="9" name="Title 1"/>
          <p:cNvSpPr txBox="1"/>
          <p:nvPr/>
        </p:nvSpPr>
        <p:spPr>
          <a:xfrm>
            <a:off x="938645" y="5579918"/>
            <a:ext cx="10938164" cy="5970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spcBef>
                <a:spcPts val="0"/>
              </a:spcBef>
              <a:buClr>
                <a:schemeClr val="dk1"/>
              </a:buClr>
              <a:buSzPts val="2000"/>
            </a:pPr>
            <a:r>
              <a:rPr lang="en-US" sz="1600" dirty="0" smtClean="0">
                <a:latin typeface="Times New Roman" panose="02020603050405020304" pitchFamily="18" charset="0"/>
                <a:cs typeface="Times New Roman" panose="02020603050405020304" pitchFamily="18" charset="0"/>
              </a:rPr>
              <a:t>          Fig. </a:t>
            </a:r>
            <a:r>
              <a:rPr lang="en-US" sz="1600" dirty="0">
                <a:latin typeface="Times New Roman" panose="02020603050405020304" pitchFamily="18" charset="0"/>
                <a:cs typeface="Times New Roman" panose="02020603050405020304" pitchFamily="18" charset="0"/>
              </a:rPr>
              <a:t>9</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Confusion matrix </a:t>
            </a:r>
            <a:r>
              <a:rPr lang="en-US" sz="1600" dirty="0" smtClean="0">
                <a:latin typeface="Times New Roman" panose="02020603050405020304" pitchFamily="18" charset="0"/>
                <a:cs typeface="Times New Roman" panose="02020603050405020304" pitchFamily="18" charset="0"/>
              </a:rPr>
              <a:t>of </a:t>
            </a:r>
            <a:r>
              <a:rPr lang="en-US" sz="1600" dirty="0">
                <a:latin typeface="Times New Roman" panose="02020603050405020304" pitchFamily="18" charset="0"/>
                <a:cs typeface="Times New Roman" panose="02020603050405020304" pitchFamily="18" charset="0"/>
              </a:rPr>
              <a:t>Gaussian Naïve </a:t>
            </a:r>
            <a:r>
              <a:rPr lang="en-US" sz="1600" dirty="0" smtClean="0">
                <a:latin typeface="Times New Roman" panose="02020603050405020304" pitchFamily="18" charset="0"/>
                <a:cs typeface="Times New Roman" panose="02020603050405020304" pitchFamily="18" charset="0"/>
              </a:rPr>
              <a:t>Bayes.           Table</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4: </a:t>
            </a:r>
            <a:r>
              <a:rPr lang="en-US" sz="1600" dirty="0">
                <a:latin typeface="Times New Roman" panose="02020603050405020304" pitchFamily="18" charset="0"/>
                <a:cs typeface="Times New Roman" panose="02020603050405020304" pitchFamily="18" charset="0"/>
              </a:rPr>
              <a:t>Gaussian Naïve Bayes</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model’s performance metrics.</a:t>
            </a:r>
            <a:endParaRPr lang="en-US" sz="16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845" y="365125"/>
            <a:ext cx="10879282" cy="1079389"/>
          </a:xfrm>
        </p:spPr>
        <p:txBody>
          <a:bodyPr>
            <a:normAutofit/>
          </a:bodyPr>
          <a:lstStyle/>
          <a:p>
            <a:pPr algn="ctr">
              <a:spcBef>
                <a:spcPts val="0"/>
              </a:spcBef>
              <a:buClr>
                <a:schemeClr val="dk1"/>
              </a:buClr>
              <a:buSzPts val="2000"/>
            </a:pPr>
            <a:r>
              <a:rPr lang="en-US" sz="3200" b="1" dirty="0">
                <a:solidFill>
                  <a:schemeClr val="dk1"/>
                </a:solidFill>
                <a:latin typeface="Times New Roman" panose="02020603050405020304" pitchFamily="18" charset="0"/>
                <a:cs typeface="Times New Roman" panose="02020603050405020304" pitchFamily="18" charset="0"/>
                <a:sym typeface="Times New Roman" panose="02020603050405020304"/>
              </a:rPr>
              <a:t>Support Vector Machine (SVM</a:t>
            </a:r>
            <a:r>
              <a:rPr lang="en-US" sz="3200" b="1"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 Model Performance Analysis</a:t>
            </a:r>
            <a:endParaRPr lang="en-US" sz="32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sp>
        <p:nvSpPr>
          <p:cNvPr id="3" name="Content Placeholder 2"/>
          <p:cNvSpPr>
            <a:spLocks noGrp="1"/>
          </p:cNvSpPr>
          <p:nvPr>
            <p:ph idx="1"/>
          </p:nvPr>
        </p:nvSpPr>
        <p:spPr>
          <a:xfrm>
            <a:off x="838200" y="1444514"/>
            <a:ext cx="10515600" cy="4364004"/>
          </a:xfrm>
        </p:spPr>
        <p:txBody>
          <a:bodyPr>
            <a:normAutofit/>
          </a:bodyPr>
          <a:lstStyle/>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600"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2400" dirty="0" smtClean="0">
                <a:solidFill>
                  <a:prstClr val="black"/>
                </a:solidFill>
                <a:latin typeface="Times New Roman" panose="02020603050405020304" pitchFamily="18" charset="0"/>
                <a:cs typeface="Times New Roman" panose="02020603050405020304" pitchFamily="18" charset="0"/>
              </a:rPr>
              <a:t>14/20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9" name="Title 1"/>
          <p:cNvSpPr txBox="1"/>
          <p:nvPr/>
        </p:nvSpPr>
        <p:spPr>
          <a:xfrm>
            <a:off x="938645" y="5579918"/>
            <a:ext cx="10938164" cy="5970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spcBef>
                <a:spcPts val="0"/>
              </a:spcBef>
              <a:buClr>
                <a:schemeClr val="dk1"/>
              </a:buClr>
              <a:buSzPts val="2000"/>
            </a:pPr>
            <a:r>
              <a:rPr lang="en-US" sz="1600" dirty="0" smtClean="0">
                <a:latin typeface="Times New Roman" panose="02020603050405020304" pitchFamily="18" charset="0"/>
                <a:cs typeface="Times New Roman" panose="02020603050405020304" pitchFamily="18" charset="0"/>
              </a:rPr>
              <a:t>          	       Fig. </a:t>
            </a:r>
            <a:r>
              <a:rPr lang="en-US" sz="1600" dirty="0" smtClean="0">
                <a:latin typeface="Times New Roman" panose="02020603050405020304" pitchFamily="18" charset="0"/>
                <a:cs typeface="Times New Roman" panose="02020603050405020304" pitchFamily="18" charset="0"/>
              </a:rPr>
              <a:t>10: </a:t>
            </a:r>
            <a:r>
              <a:rPr lang="en-US" sz="1600" dirty="0">
                <a:latin typeface="Times New Roman" panose="02020603050405020304" pitchFamily="18" charset="0"/>
                <a:cs typeface="Times New Roman" panose="02020603050405020304" pitchFamily="18" charset="0"/>
              </a:rPr>
              <a:t>Confusion matrix </a:t>
            </a:r>
            <a:r>
              <a:rPr lang="en-US" sz="1600" dirty="0" smtClean="0">
                <a:latin typeface="Times New Roman" panose="02020603050405020304" pitchFamily="18" charset="0"/>
                <a:cs typeface="Times New Roman" panose="02020603050405020304" pitchFamily="18" charset="0"/>
              </a:rPr>
              <a:t>of SVM. 		     </a:t>
            </a:r>
            <a:r>
              <a:rPr lang="en-US" sz="1600" dirty="0">
                <a:latin typeface="Times New Roman" panose="02020603050405020304" pitchFamily="18" charset="0"/>
                <a:cs typeface="Times New Roman" panose="02020603050405020304" pitchFamily="18" charset="0"/>
              </a:rPr>
              <a:t>Table. 5</a:t>
            </a:r>
            <a:r>
              <a:rPr lang="en-US" sz="1600" dirty="0" smtClean="0">
                <a:latin typeface="Times New Roman" panose="02020603050405020304" pitchFamily="18" charset="0"/>
                <a:cs typeface="Times New Roman" panose="02020603050405020304" pitchFamily="18" charset="0"/>
              </a:rPr>
              <a:t>: SVM model’s </a:t>
            </a:r>
            <a:r>
              <a:rPr lang="en-US" sz="1600" dirty="0">
                <a:latin typeface="Times New Roman" panose="02020603050405020304" pitchFamily="18" charset="0"/>
                <a:cs typeface="Times New Roman" panose="02020603050405020304" pitchFamily="18" charset="0"/>
              </a:rPr>
              <a:t>performance metrics.</a:t>
            </a:r>
            <a:endParaRPr lang="en-US" sz="16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pic>
        <p:nvPicPr>
          <p:cNvPr id="12290" name="Picture 2" descr="2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1514553"/>
            <a:ext cx="5531427" cy="4156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6719455" y="1668870"/>
          <a:ext cx="4118263" cy="3890863"/>
        </p:xfrm>
        <a:graphic>
          <a:graphicData uri="http://schemas.openxmlformats.org/drawingml/2006/table">
            <a:tbl>
              <a:tblPr firstRow="1" firstCol="1" bandRow="1">
                <a:tableStyleId>{5C22544A-7EE6-4342-B048-85BDC9FD1C3A}</a:tableStyleId>
              </a:tblPr>
              <a:tblGrid>
                <a:gridCol w="2058424"/>
                <a:gridCol w="2059839"/>
              </a:tblGrid>
              <a:tr h="762603">
                <a:tc>
                  <a:txBody>
                    <a:bodyPr/>
                    <a:lstStyle/>
                    <a:p>
                      <a:pPr marL="0" marR="0">
                        <a:lnSpc>
                          <a:spcPct val="107000"/>
                        </a:lnSpc>
                        <a:spcBef>
                          <a:spcPts val="0"/>
                        </a:spcBef>
                        <a:spcAft>
                          <a:spcPts val="0"/>
                        </a:spcAft>
                      </a:pPr>
                      <a:r>
                        <a:rPr lang="en-US" sz="2000" dirty="0">
                          <a:solidFill>
                            <a:schemeClr val="tx1"/>
                          </a:solidFill>
                          <a:effectLst/>
                        </a:rPr>
                        <a:t>Performance Metrics</a:t>
                      </a:r>
                      <a:endParaRPr lang="en-US" sz="2000" dirty="0">
                        <a:solidFill>
                          <a:schemeClr val="tx1"/>
                        </a:solidFill>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solidFill>
                            <a:schemeClr val="tx1"/>
                          </a:solidFill>
                          <a:effectLst/>
                        </a:rPr>
                        <a:t>Score (%)</a:t>
                      </a:r>
                      <a:endParaRPr lang="en-US" sz="2000" dirty="0">
                        <a:solidFill>
                          <a:schemeClr val="tx1"/>
                        </a:solidFill>
                        <a:effectLst/>
                        <a:latin typeface="Calibri" panose="020F0502020204030204" pitchFamily="34" charset="0"/>
                        <a:ea typeface="Calibri" panose="020F0502020204030204" pitchFamily="34" charset="0"/>
                        <a:cs typeface="Vrinda"/>
                      </a:endParaRPr>
                    </a:p>
                  </a:txBody>
                  <a:tcPr marL="68580" marR="68580" marT="0" marB="0"/>
                </a:tc>
              </a:tr>
              <a:tr h="625652">
                <a:tc>
                  <a:txBody>
                    <a:bodyPr/>
                    <a:lstStyle/>
                    <a:p>
                      <a:pPr marL="0" marR="0">
                        <a:lnSpc>
                          <a:spcPct val="107000"/>
                        </a:lnSpc>
                        <a:spcBef>
                          <a:spcPts val="0"/>
                        </a:spcBef>
                        <a:spcAft>
                          <a:spcPts val="0"/>
                        </a:spcAft>
                      </a:pPr>
                      <a:r>
                        <a:rPr lang="en-US" sz="2000">
                          <a:effectLst/>
                        </a:rPr>
                        <a:t>Train Accuracy</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a:effectLst/>
                        </a:rPr>
                        <a:t>98.52</a:t>
                      </a:r>
                      <a:endParaRPr lang="en-US" sz="2000">
                        <a:effectLst/>
                        <a:latin typeface="Calibri" panose="020F0502020204030204" pitchFamily="34" charset="0"/>
                        <a:ea typeface="Calibri" panose="020F0502020204030204" pitchFamily="34" charset="0"/>
                        <a:cs typeface="Vrinda"/>
                      </a:endParaRPr>
                    </a:p>
                  </a:txBody>
                  <a:tcPr marL="68580" marR="68580" marT="0" marB="0"/>
                </a:tc>
              </a:tr>
              <a:tr h="625652">
                <a:tc>
                  <a:txBody>
                    <a:bodyPr/>
                    <a:lstStyle/>
                    <a:p>
                      <a:pPr marL="0" marR="0">
                        <a:lnSpc>
                          <a:spcPct val="107000"/>
                        </a:lnSpc>
                        <a:spcBef>
                          <a:spcPts val="0"/>
                        </a:spcBef>
                        <a:spcAft>
                          <a:spcPts val="0"/>
                        </a:spcAft>
                      </a:pPr>
                      <a:r>
                        <a:rPr lang="en-US" sz="2000" dirty="0">
                          <a:effectLst/>
                        </a:rPr>
                        <a:t>Test Accuracy</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a:effectLst/>
                        </a:rPr>
                        <a:t>96.82</a:t>
                      </a:r>
                      <a:endParaRPr lang="en-US" sz="2000">
                        <a:effectLst/>
                        <a:latin typeface="Calibri" panose="020F0502020204030204" pitchFamily="34" charset="0"/>
                        <a:ea typeface="Calibri" panose="020F0502020204030204" pitchFamily="34" charset="0"/>
                        <a:cs typeface="Vrinda"/>
                      </a:endParaRPr>
                    </a:p>
                  </a:txBody>
                  <a:tcPr marL="68580" marR="68580" marT="0" marB="0"/>
                </a:tc>
              </a:tr>
              <a:tr h="625652">
                <a:tc>
                  <a:txBody>
                    <a:bodyPr/>
                    <a:lstStyle/>
                    <a:p>
                      <a:pPr marL="0" marR="0">
                        <a:lnSpc>
                          <a:spcPct val="107000"/>
                        </a:lnSpc>
                        <a:spcBef>
                          <a:spcPts val="0"/>
                        </a:spcBef>
                        <a:spcAft>
                          <a:spcPts val="0"/>
                        </a:spcAft>
                      </a:pPr>
                      <a:r>
                        <a:rPr lang="en-US" sz="2000" dirty="0">
                          <a:effectLst/>
                        </a:rPr>
                        <a:t>Precision</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effectLst/>
                        </a:rPr>
                        <a:t>96.82</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r>
              <a:tr h="625652">
                <a:tc>
                  <a:txBody>
                    <a:bodyPr/>
                    <a:lstStyle/>
                    <a:p>
                      <a:pPr marL="0" marR="0">
                        <a:lnSpc>
                          <a:spcPct val="107000"/>
                        </a:lnSpc>
                        <a:spcBef>
                          <a:spcPts val="0"/>
                        </a:spcBef>
                        <a:spcAft>
                          <a:spcPts val="0"/>
                        </a:spcAft>
                      </a:pPr>
                      <a:r>
                        <a:rPr lang="en-US" sz="2000">
                          <a:effectLst/>
                        </a:rPr>
                        <a:t>Recall</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effectLst/>
                        </a:rPr>
                        <a:t>96.82</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r>
              <a:tr h="625652">
                <a:tc>
                  <a:txBody>
                    <a:bodyPr/>
                    <a:lstStyle/>
                    <a:p>
                      <a:pPr marL="0" marR="0">
                        <a:lnSpc>
                          <a:spcPct val="107000"/>
                        </a:lnSpc>
                        <a:spcBef>
                          <a:spcPts val="0"/>
                        </a:spcBef>
                        <a:spcAft>
                          <a:spcPts val="0"/>
                        </a:spcAft>
                      </a:pPr>
                      <a:r>
                        <a:rPr lang="en-US" sz="2000">
                          <a:effectLst/>
                        </a:rPr>
                        <a:t>F1-Score</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effectLst/>
                        </a:rPr>
                        <a:t>96.82</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9389"/>
          </a:xfrm>
        </p:spPr>
        <p:txBody>
          <a:bodyPr>
            <a:normAutofit/>
          </a:bodyPr>
          <a:lstStyle/>
          <a:p>
            <a:pPr algn="ctr">
              <a:spcBef>
                <a:spcPts val="0"/>
              </a:spcBef>
              <a:buClr>
                <a:schemeClr val="dk1"/>
              </a:buClr>
              <a:buSzPts val="2000"/>
            </a:pPr>
            <a:r>
              <a:rPr lang="en-US" sz="3600" b="1" dirty="0">
                <a:solidFill>
                  <a:schemeClr val="dk1"/>
                </a:solidFill>
                <a:latin typeface="Times New Roman" panose="02020603050405020304" pitchFamily="18" charset="0"/>
                <a:cs typeface="Times New Roman" panose="02020603050405020304" pitchFamily="18" charset="0"/>
                <a:sym typeface="Times New Roman" panose="02020603050405020304"/>
              </a:rPr>
              <a:t>Decision Tree Model </a:t>
            </a:r>
            <a:r>
              <a:rPr lang="en-US" sz="3600" b="1"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Performance Analysis</a:t>
            </a:r>
            <a:endParaRPr lang="en-US" sz="36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sp>
        <p:nvSpPr>
          <p:cNvPr id="3" name="Content Placeholder 2"/>
          <p:cNvSpPr>
            <a:spLocks noGrp="1"/>
          </p:cNvSpPr>
          <p:nvPr>
            <p:ph idx="1"/>
          </p:nvPr>
        </p:nvSpPr>
        <p:spPr>
          <a:xfrm>
            <a:off x="838200" y="1444514"/>
            <a:ext cx="10515600" cy="4364004"/>
          </a:xfrm>
        </p:spPr>
        <p:txBody>
          <a:bodyPr>
            <a:normAutofit/>
          </a:bodyPr>
          <a:lstStyle/>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600"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2400" dirty="0" smtClean="0">
                <a:solidFill>
                  <a:prstClr val="black"/>
                </a:solidFill>
                <a:latin typeface="Times New Roman" panose="02020603050405020304" pitchFamily="18" charset="0"/>
                <a:cs typeface="Times New Roman" panose="02020603050405020304" pitchFamily="18" charset="0"/>
              </a:rPr>
              <a:t>15/20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9" name="Title 1"/>
          <p:cNvSpPr txBox="1"/>
          <p:nvPr/>
        </p:nvSpPr>
        <p:spPr>
          <a:xfrm>
            <a:off x="938645" y="5579918"/>
            <a:ext cx="10938164" cy="5970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spcBef>
                <a:spcPts val="0"/>
              </a:spcBef>
              <a:buClr>
                <a:schemeClr val="dk1"/>
              </a:buClr>
              <a:buSzPts val="2000"/>
            </a:pPr>
            <a:r>
              <a:rPr lang="en-US" sz="1600" dirty="0" smtClean="0">
                <a:latin typeface="Times New Roman" panose="02020603050405020304" pitchFamily="18" charset="0"/>
                <a:cs typeface="Times New Roman" panose="02020603050405020304" pitchFamily="18" charset="0"/>
              </a:rPr>
              <a:t>                Fig. </a:t>
            </a:r>
            <a:r>
              <a:rPr lang="en-US" sz="1600" dirty="0" smtClean="0">
                <a:latin typeface="Times New Roman" panose="02020603050405020304" pitchFamily="18" charset="0"/>
                <a:cs typeface="Times New Roman" panose="02020603050405020304" pitchFamily="18" charset="0"/>
              </a:rPr>
              <a:t>11: </a:t>
            </a:r>
            <a:r>
              <a:rPr lang="en-US" sz="1600" dirty="0">
                <a:latin typeface="Times New Roman" panose="02020603050405020304" pitchFamily="18" charset="0"/>
                <a:cs typeface="Times New Roman" panose="02020603050405020304" pitchFamily="18" charset="0"/>
              </a:rPr>
              <a:t>Confusion matrix of Decision </a:t>
            </a:r>
            <a:r>
              <a:rPr lang="en-US" sz="1600" dirty="0" smtClean="0">
                <a:latin typeface="Times New Roman" panose="02020603050405020304" pitchFamily="18" charset="0"/>
                <a:cs typeface="Times New Roman" panose="02020603050405020304" pitchFamily="18" charset="0"/>
              </a:rPr>
              <a:t>Tree. 		 </a:t>
            </a:r>
            <a:r>
              <a:rPr lang="en-US" sz="1600" dirty="0">
                <a:latin typeface="Times New Roman" panose="02020603050405020304" pitchFamily="18" charset="0"/>
                <a:cs typeface="Times New Roman" panose="02020603050405020304" pitchFamily="18" charset="0"/>
              </a:rPr>
              <a:t>Table. 6</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Decision Tree </a:t>
            </a:r>
            <a:r>
              <a:rPr lang="en-US" sz="1600" dirty="0" smtClean="0">
                <a:latin typeface="Times New Roman" panose="02020603050405020304" pitchFamily="18" charset="0"/>
                <a:cs typeface="Times New Roman" panose="02020603050405020304" pitchFamily="18" charset="0"/>
              </a:rPr>
              <a:t>model’s </a:t>
            </a:r>
            <a:r>
              <a:rPr lang="en-US" sz="1600" dirty="0">
                <a:latin typeface="Times New Roman" panose="02020603050405020304" pitchFamily="18" charset="0"/>
                <a:cs typeface="Times New Roman" panose="02020603050405020304" pitchFamily="18" charset="0"/>
              </a:rPr>
              <a:t>performance metrics.</a:t>
            </a:r>
            <a:endParaRPr lang="en-US" sz="16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pic>
        <p:nvPicPr>
          <p:cNvPr id="13314" name="Picture 2" descr="2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1604817"/>
            <a:ext cx="5708073" cy="4120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6845876" y="1683325"/>
          <a:ext cx="4085359" cy="3838873"/>
        </p:xfrm>
        <a:graphic>
          <a:graphicData uri="http://schemas.openxmlformats.org/drawingml/2006/table">
            <a:tbl>
              <a:tblPr firstRow="1" firstCol="1" bandRow="1">
                <a:tableStyleId>{5C22544A-7EE6-4342-B048-85BDC9FD1C3A}</a:tableStyleId>
              </a:tblPr>
              <a:tblGrid>
                <a:gridCol w="2041978"/>
                <a:gridCol w="2043381"/>
              </a:tblGrid>
              <a:tr h="748148">
                <a:tc>
                  <a:txBody>
                    <a:bodyPr/>
                    <a:lstStyle/>
                    <a:p>
                      <a:pPr marL="0" marR="0">
                        <a:lnSpc>
                          <a:spcPct val="107000"/>
                        </a:lnSpc>
                        <a:spcBef>
                          <a:spcPts val="0"/>
                        </a:spcBef>
                        <a:spcAft>
                          <a:spcPts val="0"/>
                        </a:spcAft>
                      </a:pPr>
                      <a:r>
                        <a:rPr lang="en-US" sz="2000" dirty="0">
                          <a:solidFill>
                            <a:schemeClr val="tx1"/>
                          </a:solidFill>
                          <a:effectLst/>
                        </a:rPr>
                        <a:t>Performance Metrics</a:t>
                      </a:r>
                      <a:endParaRPr lang="en-US" sz="2000" dirty="0">
                        <a:solidFill>
                          <a:schemeClr val="tx1"/>
                        </a:solidFill>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solidFill>
                            <a:schemeClr val="tx1"/>
                          </a:solidFill>
                          <a:effectLst/>
                        </a:rPr>
                        <a:t>Score (%)</a:t>
                      </a:r>
                      <a:endParaRPr lang="en-US" sz="2000" dirty="0">
                        <a:solidFill>
                          <a:schemeClr val="tx1"/>
                        </a:solidFill>
                        <a:effectLst/>
                        <a:latin typeface="Calibri" panose="020F0502020204030204" pitchFamily="34" charset="0"/>
                        <a:ea typeface="Calibri" panose="020F0502020204030204" pitchFamily="34" charset="0"/>
                        <a:cs typeface="Vrinda"/>
                      </a:endParaRPr>
                    </a:p>
                  </a:txBody>
                  <a:tcPr marL="68580" marR="68580" marT="0" marB="0"/>
                </a:tc>
              </a:tr>
              <a:tr h="618145">
                <a:tc>
                  <a:txBody>
                    <a:bodyPr/>
                    <a:lstStyle/>
                    <a:p>
                      <a:pPr marL="0" marR="0">
                        <a:lnSpc>
                          <a:spcPct val="107000"/>
                        </a:lnSpc>
                        <a:spcBef>
                          <a:spcPts val="0"/>
                        </a:spcBef>
                        <a:spcAft>
                          <a:spcPts val="0"/>
                        </a:spcAft>
                      </a:pPr>
                      <a:r>
                        <a:rPr lang="en-US" sz="2000">
                          <a:effectLst/>
                        </a:rPr>
                        <a:t>Train Accuracy</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a:effectLst/>
                        </a:rPr>
                        <a:t>100.00</a:t>
                      </a:r>
                      <a:endParaRPr lang="en-US" sz="2000">
                        <a:effectLst/>
                        <a:latin typeface="Calibri" panose="020F0502020204030204" pitchFamily="34" charset="0"/>
                        <a:ea typeface="Calibri" panose="020F0502020204030204" pitchFamily="34" charset="0"/>
                        <a:cs typeface="Vrinda"/>
                      </a:endParaRPr>
                    </a:p>
                  </a:txBody>
                  <a:tcPr marL="68580" marR="68580" marT="0" marB="0"/>
                </a:tc>
              </a:tr>
              <a:tr h="618145">
                <a:tc>
                  <a:txBody>
                    <a:bodyPr/>
                    <a:lstStyle/>
                    <a:p>
                      <a:pPr marL="0" marR="0">
                        <a:lnSpc>
                          <a:spcPct val="107000"/>
                        </a:lnSpc>
                        <a:spcBef>
                          <a:spcPts val="0"/>
                        </a:spcBef>
                        <a:spcAft>
                          <a:spcPts val="0"/>
                        </a:spcAft>
                      </a:pPr>
                      <a:r>
                        <a:rPr lang="en-US" sz="2000">
                          <a:effectLst/>
                        </a:rPr>
                        <a:t>Test Accuracy</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a:effectLst/>
                        </a:rPr>
                        <a:t>98.64</a:t>
                      </a:r>
                      <a:endParaRPr lang="en-US" sz="2000">
                        <a:effectLst/>
                        <a:latin typeface="Calibri" panose="020F0502020204030204" pitchFamily="34" charset="0"/>
                        <a:ea typeface="Calibri" panose="020F0502020204030204" pitchFamily="34" charset="0"/>
                        <a:cs typeface="Vrinda"/>
                      </a:endParaRPr>
                    </a:p>
                  </a:txBody>
                  <a:tcPr marL="68580" marR="68580" marT="0" marB="0"/>
                </a:tc>
              </a:tr>
              <a:tr h="618145">
                <a:tc>
                  <a:txBody>
                    <a:bodyPr/>
                    <a:lstStyle/>
                    <a:p>
                      <a:pPr marL="0" marR="0">
                        <a:lnSpc>
                          <a:spcPct val="107000"/>
                        </a:lnSpc>
                        <a:spcBef>
                          <a:spcPts val="0"/>
                        </a:spcBef>
                        <a:spcAft>
                          <a:spcPts val="0"/>
                        </a:spcAft>
                      </a:pPr>
                      <a:r>
                        <a:rPr lang="en-US" sz="2000">
                          <a:effectLst/>
                        </a:rPr>
                        <a:t>Precision</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effectLst/>
                        </a:rPr>
                        <a:t>98.64</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r>
              <a:tr h="618145">
                <a:tc>
                  <a:txBody>
                    <a:bodyPr/>
                    <a:lstStyle/>
                    <a:p>
                      <a:pPr marL="0" marR="0">
                        <a:lnSpc>
                          <a:spcPct val="107000"/>
                        </a:lnSpc>
                        <a:spcBef>
                          <a:spcPts val="0"/>
                        </a:spcBef>
                        <a:spcAft>
                          <a:spcPts val="0"/>
                        </a:spcAft>
                      </a:pPr>
                      <a:r>
                        <a:rPr lang="en-US" sz="2000">
                          <a:effectLst/>
                        </a:rPr>
                        <a:t>Recall</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a:effectLst/>
                        </a:rPr>
                        <a:t>98.64</a:t>
                      </a:r>
                      <a:endParaRPr lang="en-US" sz="2000">
                        <a:effectLst/>
                        <a:latin typeface="Calibri" panose="020F0502020204030204" pitchFamily="34" charset="0"/>
                        <a:ea typeface="Calibri" panose="020F0502020204030204" pitchFamily="34" charset="0"/>
                        <a:cs typeface="Vrinda"/>
                      </a:endParaRPr>
                    </a:p>
                  </a:txBody>
                  <a:tcPr marL="68580" marR="68580" marT="0" marB="0"/>
                </a:tc>
              </a:tr>
              <a:tr h="618145">
                <a:tc>
                  <a:txBody>
                    <a:bodyPr/>
                    <a:lstStyle/>
                    <a:p>
                      <a:pPr marL="0" marR="0">
                        <a:lnSpc>
                          <a:spcPct val="107000"/>
                        </a:lnSpc>
                        <a:spcBef>
                          <a:spcPts val="0"/>
                        </a:spcBef>
                        <a:spcAft>
                          <a:spcPts val="0"/>
                        </a:spcAft>
                      </a:pPr>
                      <a:r>
                        <a:rPr lang="en-US" sz="2000">
                          <a:effectLst/>
                        </a:rPr>
                        <a:t>F1-Score</a:t>
                      </a:r>
                      <a:endParaRPr lang="en-US"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effectLst/>
                        </a:rPr>
                        <a:t>98.64</a:t>
                      </a:r>
                      <a:endParaRPr lang="en-US" sz="2000" dirty="0">
                        <a:effectLst/>
                        <a:latin typeface="Calibri" panose="020F0502020204030204" pitchFamily="34" charset="0"/>
                        <a:ea typeface="Calibri" panose="020F0502020204030204" pitchFamily="34" charset="0"/>
                        <a:cs typeface="Vrinda"/>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9389"/>
          </a:xfrm>
        </p:spPr>
        <p:txBody>
          <a:bodyPr>
            <a:normAutofit/>
          </a:bodyPr>
          <a:lstStyle/>
          <a:p>
            <a:pPr algn="ctr">
              <a:spcBef>
                <a:spcPts val="0"/>
              </a:spcBef>
              <a:buClr>
                <a:schemeClr val="dk1"/>
              </a:buClr>
              <a:buSzPts val="2000"/>
            </a:pPr>
            <a:r>
              <a:rPr lang="en-US" sz="3600" b="1" dirty="0">
                <a:solidFill>
                  <a:schemeClr val="dk1"/>
                </a:solidFill>
                <a:latin typeface="Times New Roman" panose="02020603050405020304" pitchFamily="18" charset="0"/>
                <a:cs typeface="Times New Roman" panose="02020603050405020304" pitchFamily="18" charset="0"/>
                <a:sym typeface="Times New Roman" panose="02020603050405020304"/>
              </a:rPr>
              <a:t>Random Forest Model </a:t>
            </a:r>
            <a:r>
              <a:rPr lang="en-US" sz="3600" b="1"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Performance Analysis</a:t>
            </a:r>
            <a:endParaRPr lang="en-US" sz="36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sp>
        <p:nvSpPr>
          <p:cNvPr id="3" name="Content Placeholder 2"/>
          <p:cNvSpPr>
            <a:spLocks noGrp="1"/>
          </p:cNvSpPr>
          <p:nvPr>
            <p:ph idx="1"/>
          </p:nvPr>
        </p:nvSpPr>
        <p:spPr>
          <a:xfrm>
            <a:off x="838200" y="1444514"/>
            <a:ext cx="10515600" cy="4364004"/>
          </a:xfrm>
        </p:spPr>
        <p:txBody>
          <a:bodyPr>
            <a:normAutofit/>
          </a:bodyPr>
          <a:lstStyle/>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600"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2400" dirty="0" smtClean="0">
                <a:solidFill>
                  <a:prstClr val="black"/>
                </a:solidFill>
                <a:latin typeface="Times New Roman" panose="02020603050405020304" pitchFamily="18" charset="0"/>
                <a:cs typeface="Times New Roman" panose="02020603050405020304" pitchFamily="18" charset="0"/>
              </a:rPr>
              <a:t>16</a:t>
            </a:r>
            <a:r>
              <a:rPr lang="en-US" sz="2400" dirty="0" smtClean="0">
                <a:solidFill>
                  <a:prstClr val="black"/>
                </a:solidFill>
                <a:latin typeface="Times New Roman" panose="02020603050405020304" pitchFamily="18" charset="0"/>
                <a:cs typeface="Times New Roman" panose="02020603050405020304" pitchFamily="18" charset="0"/>
              </a:rPr>
              <a:t>/20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9" name="Title 1"/>
          <p:cNvSpPr txBox="1"/>
          <p:nvPr/>
        </p:nvSpPr>
        <p:spPr>
          <a:xfrm>
            <a:off x="938645" y="5579918"/>
            <a:ext cx="10938164" cy="5970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spcBef>
                <a:spcPts val="0"/>
              </a:spcBef>
              <a:buClr>
                <a:schemeClr val="dk1"/>
              </a:buClr>
              <a:buSzPts val="2000"/>
            </a:pPr>
            <a:r>
              <a:rPr lang="en-US" sz="1600" dirty="0" smtClean="0">
                <a:latin typeface="Times New Roman" panose="02020603050405020304" pitchFamily="18" charset="0"/>
                <a:cs typeface="Times New Roman" panose="02020603050405020304" pitchFamily="18" charset="0"/>
              </a:rPr>
              <a:t>                Fig. </a:t>
            </a:r>
            <a:r>
              <a:rPr lang="en-US" sz="1600" dirty="0" smtClean="0">
                <a:latin typeface="Times New Roman" panose="02020603050405020304" pitchFamily="18" charset="0"/>
                <a:cs typeface="Times New Roman" panose="02020603050405020304" pitchFamily="18" charset="0"/>
              </a:rPr>
              <a:t>12: </a:t>
            </a:r>
            <a:r>
              <a:rPr lang="en-US" sz="1600" dirty="0">
                <a:latin typeface="Times New Roman" panose="02020603050405020304" pitchFamily="18" charset="0"/>
                <a:cs typeface="Times New Roman" panose="02020603050405020304" pitchFamily="18" charset="0"/>
              </a:rPr>
              <a:t>Confusion matrix of Random </a:t>
            </a:r>
            <a:r>
              <a:rPr lang="en-US" sz="1600" dirty="0" smtClean="0">
                <a:latin typeface="Times New Roman" panose="02020603050405020304" pitchFamily="18" charset="0"/>
                <a:cs typeface="Times New Roman" panose="02020603050405020304" pitchFamily="18" charset="0"/>
              </a:rPr>
              <a:t>Forest. 		  Table</a:t>
            </a:r>
            <a:r>
              <a:rPr lang="en-US" sz="1600" dirty="0">
                <a:latin typeface="Times New Roman" panose="02020603050405020304" pitchFamily="18" charset="0"/>
                <a:cs typeface="Times New Roman" panose="02020603050405020304" pitchFamily="18" charset="0"/>
              </a:rPr>
              <a:t>. 7</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Random Forest model’s performance metrics.</a:t>
            </a:r>
            <a:endParaRPr lang="en-US" sz="16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pic>
        <p:nvPicPr>
          <p:cNvPr id="14338" name="Picture 2" descr="2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2681" y="1538743"/>
            <a:ext cx="5483592" cy="4165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le 5"/>
          <p:cNvGraphicFramePr>
            <a:graphicFrameLocks noGrp="1"/>
          </p:cNvGraphicFramePr>
          <p:nvPr/>
        </p:nvGraphicFramePr>
        <p:xfrm>
          <a:off x="6928021" y="1696996"/>
          <a:ext cx="4013605" cy="3882925"/>
        </p:xfrm>
        <a:graphic>
          <a:graphicData uri="http://schemas.openxmlformats.org/drawingml/2006/table">
            <a:tbl>
              <a:tblPr firstRow="1" firstCol="1" bandRow="1">
                <a:tableStyleId>{5C22544A-7EE6-4342-B048-85BDC9FD1C3A}</a:tableStyleId>
              </a:tblPr>
              <a:tblGrid>
                <a:gridCol w="2006113"/>
                <a:gridCol w="2007492"/>
              </a:tblGrid>
              <a:tr h="740720">
                <a:tc>
                  <a:txBody>
                    <a:bodyPr/>
                    <a:lstStyle/>
                    <a:p>
                      <a:pPr marL="0" marR="0">
                        <a:lnSpc>
                          <a:spcPct val="107000"/>
                        </a:lnSpc>
                        <a:spcBef>
                          <a:spcPts val="0"/>
                        </a:spcBef>
                        <a:spcAft>
                          <a:spcPts val="0"/>
                        </a:spcAft>
                      </a:pPr>
                      <a:r>
                        <a:rPr lang="en-US" sz="2000" dirty="0">
                          <a:solidFill>
                            <a:schemeClr val="tx1"/>
                          </a:solidFill>
                          <a:effectLst/>
                        </a:rPr>
                        <a:t>Performance Metrics</a:t>
                      </a:r>
                      <a:endParaRPr lang="en-US" sz="1800" dirty="0">
                        <a:solidFill>
                          <a:schemeClr val="tx1"/>
                        </a:solidFill>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solidFill>
                            <a:schemeClr val="tx1"/>
                          </a:solidFill>
                          <a:effectLst/>
                        </a:rPr>
                        <a:t>Score (%)</a:t>
                      </a:r>
                      <a:endParaRPr lang="en-US" sz="1800" dirty="0">
                        <a:solidFill>
                          <a:schemeClr val="tx1"/>
                        </a:solidFill>
                        <a:effectLst/>
                        <a:latin typeface="Calibri" panose="020F0502020204030204" pitchFamily="34" charset="0"/>
                        <a:ea typeface="Calibri" panose="020F0502020204030204" pitchFamily="34" charset="0"/>
                        <a:cs typeface="Vrinda"/>
                      </a:endParaRPr>
                    </a:p>
                  </a:txBody>
                  <a:tcPr marL="68580" marR="68580" marT="0" marB="0"/>
                </a:tc>
              </a:tr>
              <a:tr h="628441">
                <a:tc>
                  <a:txBody>
                    <a:bodyPr/>
                    <a:lstStyle/>
                    <a:p>
                      <a:pPr marL="0" marR="0">
                        <a:lnSpc>
                          <a:spcPct val="107000"/>
                        </a:lnSpc>
                        <a:spcBef>
                          <a:spcPts val="0"/>
                        </a:spcBef>
                        <a:spcAft>
                          <a:spcPts val="0"/>
                        </a:spcAft>
                      </a:pPr>
                      <a:r>
                        <a:rPr lang="en-US" sz="2000">
                          <a:effectLst/>
                        </a:rPr>
                        <a:t>Train Accuracy</a:t>
                      </a:r>
                      <a:endParaRPr lang="en-US" sz="18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a:effectLst/>
                        </a:rPr>
                        <a:t>100.00</a:t>
                      </a:r>
                      <a:endParaRPr lang="en-US" sz="1800">
                        <a:effectLst/>
                        <a:latin typeface="Calibri" panose="020F0502020204030204" pitchFamily="34" charset="0"/>
                        <a:ea typeface="Calibri" panose="020F0502020204030204" pitchFamily="34" charset="0"/>
                        <a:cs typeface="Vrinda"/>
                      </a:endParaRPr>
                    </a:p>
                  </a:txBody>
                  <a:tcPr marL="68580" marR="68580" marT="0" marB="0"/>
                </a:tc>
              </a:tr>
              <a:tr h="628441">
                <a:tc>
                  <a:txBody>
                    <a:bodyPr/>
                    <a:lstStyle/>
                    <a:p>
                      <a:pPr marL="0" marR="0">
                        <a:lnSpc>
                          <a:spcPct val="107000"/>
                        </a:lnSpc>
                        <a:spcBef>
                          <a:spcPts val="0"/>
                        </a:spcBef>
                        <a:spcAft>
                          <a:spcPts val="0"/>
                        </a:spcAft>
                      </a:pPr>
                      <a:r>
                        <a:rPr lang="en-US" sz="2000">
                          <a:effectLst/>
                        </a:rPr>
                        <a:t>Test Accuracy</a:t>
                      </a:r>
                      <a:endParaRPr lang="en-US" sz="18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a:effectLst/>
                        </a:rPr>
                        <a:t>99.32</a:t>
                      </a:r>
                      <a:endParaRPr lang="en-US" sz="1800">
                        <a:effectLst/>
                        <a:latin typeface="Calibri" panose="020F0502020204030204" pitchFamily="34" charset="0"/>
                        <a:ea typeface="Calibri" panose="020F0502020204030204" pitchFamily="34" charset="0"/>
                        <a:cs typeface="Vrinda"/>
                      </a:endParaRPr>
                    </a:p>
                  </a:txBody>
                  <a:tcPr marL="68580" marR="68580" marT="0" marB="0"/>
                </a:tc>
              </a:tr>
              <a:tr h="628441">
                <a:tc>
                  <a:txBody>
                    <a:bodyPr/>
                    <a:lstStyle/>
                    <a:p>
                      <a:pPr marL="0" marR="0">
                        <a:lnSpc>
                          <a:spcPct val="107000"/>
                        </a:lnSpc>
                        <a:spcBef>
                          <a:spcPts val="0"/>
                        </a:spcBef>
                        <a:spcAft>
                          <a:spcPts val="0"/>
                        </a:spcAft>
                      </a:pPr>
                      <a:r>
                        <a:rPr lang="en-US" sz="2000">
                          <a:effectLst/>
                        </a:rPr>
                        <a:t>Precision</a:t>
                      </a:r>
                      <a:endParaRPr lang="en-US" sz="18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effectLst/>
                        </a:rPr>
                        <a:t>99.37</a:t>
                      </a:r>
                      <a:endParaRPr lang="en-US" sz="1800" dirty="0">
                        <a:effectLst/>
                        <a:latin typeface="Calibri" panose="020F0502020204030204" pitchFamily="34" charset="0"/>
                        <a:ea typeface="Calibri" panose="020F0502020204030204" pitchFamily="34" charset="0"/>
                        <a:cs typeface="Vrinda"/>
                      </a:endParaRPr>
                    </a:p>
                  </a:txBody>
                  <a:tcPr marL="68580" marR="68580" marT="0" marB="0"/>
                </a:tc>
              </a:tr>
              <a:tr h="628441">
                <a:tc>
                  <a:txBody>
                    <a:bodyPr/>
                    <a:lstStyle/>
                    <a:p>
                      <a:pPr marL="0" marR="0">
                        <a:lnSpc>
                          <a:spcPct val="107000"/>
                        </a:lnSpc>
                        <a:spcBef>
                          <a:spcPts val="0"/>
                        </a:spcBef>
                        <a:spcAft>
                          <a:spcPts val="0"/>
                        </a:spcAft>
                      </a:pPr>
                      <a:r>
                        <a:rPr lang="en-US" sz="2000" dirty="0">
                          <a:effectLst/>
                        </a:rPr>
                        <a:t>Recall</a:t>
                      </a:r>
                      <a:endParaRPr lang="en-US" sz="1800" dirty="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a:effectLst/>
                        </a:rPr>
                        <a:t>99.32</a:t>
                      </a:r>
                      <a:endParaRPr lang="en-US" sz="1800">
                        <a:effectLst/>
                        <a:latin typeface="Calibri" panose="020F0502020204030204" pitchFamily="34" charset="0"/>
                        <a:ea typeface="Calibri" panose="020F0502020204030204" pitchFamily="34" charset="0"/>
                        <a:cs typeface="Vrinda"/>
                      </a:endParaRPr>
                    </a:p>
                  </a:txBody>
                  <a:tcPr marL="68580" marR="68580" marT="0" marB="0"/>
                </a:tc>
              </a:tr>
              <a:tr h="628441">
                <a:tc>
                  <a:txBody>
                    <a:bodyPr/>
                    <a:lstStyle/>
                    <a:p>
                      <a:pPr marL="0" marR="0">
                        <a:lnSpc>
                          <a:spcPct val="107000"/>
                        </a:lnSpc>
                        <a:spcBef>
                          <a:spcPts val="0"/>
                        </a:spcBef>
                        <a:spcAft>
                          <a:spcPts val="0"/>
                        </a:spcAft>
                      </a:pPr>
                      <a:r>
                        <a:rPr lang="en-US" sz="2000">
                          <a:effectLst/>
                        </a:rPr>
                        <a:t>F1-Score</a:t>
                      </a:r>
                      <a:endParaRPr lang="en-US" sz="1800">
                        <a:effectLst/>
                        <a:latin typeface="Calibri" panose="020F0502020204030204" pitchFamily="34" charset="0"/>
                        <a:ea typeface="Calibri" panose="020F0502020204030204" pitchFamily="34" charset="0"/>
                        <a:cs typeface="Vrinda"/>
                      </a:endParaRPr>
                    </a:p>
                  </a:txBody>
                  <a:tcPr marL="68580" marR="68580" marT="0" marB="0"/>
                </a:tc>
                <a:tc>
                  <a:txBody>
                    <a:bodyPr/>
                    <a:lstStyle/>
                    <a:p>
                      <a:pPr marL="0" marR="0">
                        <a:lnSpc>
                          <a:spcPct val="107000"/>
                        </a:lnSpc>
                        <a:spcBef>
                          <a:spcPts val="0"/>
                        </a:spcBef>
                        <a:spcAft>
                          <a:spcPts val="0"/>
                        </a:spcAft>
                      </a:pPr>
                      <a:r>
                        <a:rPr lang="en-US" sz="2000" dirty="0">
                          <a:effectLst/>
                        </a:rPr>
                        <a:t>99.32</a:t>
                      </a:r>
                      <a:endParaRPr lang="en-US" sz="1800" dirty="0">
                        <a:effectLst/>
                        <a:latin typeface="Calibri" panose="020F0502020204030204" pitchFamily="34" charset="0"/>
                        <a:ea typeface="Calibri" panose="020F0502020204030204" pitchFamily="34" charset="0"/>
                        <a:cs typeface="Vrinda"/>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9389"/>
          </a:xfrm>
        </p:spPr>
        <p:txBody>
          <a:bodyPr>
            <a:normAutofit/>
          </a:bodyPr>
          <a:lstStyle/>
          <a:p>
            <a:pPr algn="ctr">
              <a:spcBef>
                <a:spcPts val="0"/>
              </a:spcBef>
              <a:buClr>
                <a:schemeClr val="dk1"/>
              </a:buClr>
              <a:buSzPts val="2000"/>
            </a:pPr>
            <a:r>
              <a:rPr lang="en-US" sz="3600" b="1"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Model Accuracy Comparison</a:t>
            </a:r>
            <a:endParaRPr lang="en-US" sz="36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sp>
        <p:nvSpPr>
          <p:cNvPr id="3" name="Content Placeholder 2"/>
          <p:cNvSpPr>
            <a:spLocks noGrp="1"/>
          </p:cNvSpPr>
          <p:nvPr>
            <p:ph idx="1"/>
          </p:nvPr>
        </p:nvSpPr>
        <p:spPr>
          <a:xfrm>
            <a:off x="838200" y="1444514"/>
            <a:ext cx="10515600" cy="4364004"/>
          </a:xfrm>
        </p:spPr>
        <p:txBody>
          <a:bodyPr>
            <a:normAutofit/>
          </a:bodyPr>
          <a:lstStyle/>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800" dirty="0" smtClean="0">
              <a:latin typeface="Times New Roman" panose="02020603050405020304" pitchFamily="18" charset="0"/>
              <a:cs typeface="Times New Roman" panose="02020603050405020304" pitchFamily="18" charset="0"/>
            </a:endParaRPr>
          </a:p>
          <a:p>
            <a:pPr marL="0" indent="0" algn="just">
              <a:lnSpc>
                <a:spcPct val="100000"/>
              </a:lnSpc>
              <a:spcBef>
                <a:spcPts val="0"/>
              </a:spcBef>
              <a:buClr>
                <a:schemeClr val="dk1"/>
              </a:buClr>
              <a:buSzPts val="2000"/>
              <a:buNone/>
            </a:pPr>
            <a:endParaRPr lang="en-US" sz="1600"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2400" dirty="0" smtClean="0">
                <a:solidFill>
                  <a:prstClr val="black"/>
                </a:solidFill>
                <a:latin typeface="Times New Roman" panose="02020603050405020304" pitchFamily="18" charset="0"/>
                <a:cs typeface="Times New Roman" panose="02020603050405020304" pitchFamily="18" charset="0"/>
              </a:rPr>
              <a:t>17</a:t>
            </a:r>
            <a:r>
              <a:rPr lang="en-US" sz="2400" dirty="0" smtClean="0">
                <a:solidFill>
                  <a:prstClr val="black"/>
                </a:solidFill>
                <a:latin typeface="Times New Roman" panose="02020603050405020304" pitchFamily="18" charset="0"/>
                <a:cs typeface="Times New Roman" panose="02020603050405020304" pitchFamily="18" charset="0"/>
              </a:rPr>
              <a:t>/20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9" name="Title 1"/>
          <p:cNvSpPr txBox="1"/>
          <p:nvPr/>
        </p:nvSpPr>
        <p:spPr>
          <a:xfrm>
            <a:off x="1541317" y="5694218"/>
            <a:ext cx="9109364" cy="5970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buClr>
                <a:schemeClr val="dk1"/>
              </a:buClr>
              <a:buSzPts val="2000"/>
            </a:pPr>
            <a:r>
              <a:rPr lang="en-US" sz="2000" dirty="0" smtClean="0">
                <a:latin typeface="Times New Roman" panose="02020603050405020304" pitchFamily="18" charset="0"/>
                <a:cs typeface="Times New Roman" panose="02020603050405020304" pitchFamily="18" charset="0"/>
              </a:rPr>
              <a:t>Fig. </a:t>
            </a:r>
            <a:r>
              <a:rPr lang="en-US" sz="2000" dirty="0" smtClean="0">
                <a:latin typeface="Times New Roman" panose="02020603050405020304" pitchFamily="18" charset="0"/>
                <a:cs typeface="Times New Roman" panose="02020603050405020304" pitchFamily="18" charset="0"/>
              </a:rPr>
              <a:t>13: </a:t>
            </a:r>
            <a:r>
              <a:rPr lang="en-US" sz="2000" dirty="0">
                <a:latin typeface="Times New Roman" panose="02020603050405020304" pitchFamily="18" charset="0"/>
                <a:cs typeface="Times New Roman" panose="02020603050405020304" pitchFamily="18" charset="0"/>
              </a:rPr>
              <a:t>Accuracy (%) comparison on train and test sets in bar plot.</a:t>
            </a:r>
            <a:endParaRPr lang="en-US" sz="2000" b="1" dirty="0">
              <a:solidFill>
                <a:schemeClr val="dk1"/>
              </a:solidFill>
              <a:latin typeface="Times New Roman" panose="02020603050405020304" pitchFamily="18" charset="0"/>
              <a:cs typeface="Times New Roman" panose="02020603050405020304" pitchFamily="18" charset="0"/>
              <a:sym typeface="Times New Roman" panose="02020603050405020304"/>
            </a:endParaRPr>
          </a:p>
        </p:txBody>
      </p:sp>
      <p:pic>
        <p:nvPicPr>
          <p:cNvPr id="15363" name="Picture 3" descr="2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36821" y="1209053"/>
            <a:ext cx="8318355" cy="4599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98224"/>
            <a:ext cx="10515600" cy="2205868"/>
          </a:xfrm>
        </p:spPr>
        <p:txBody>
          <a:bodyPr>
            <a:normAutofit/>
          </a:bodyPr>
          <a:lstStyle/>
          <a:p>
            <a:pPr algn="ctr"/>
            <a:r>
              <a:rPr lang="en-US" sz="6000" b="1" dirty="0" smtClean="0">
                <a:latin typeface="Times New Roman" panose="02020603050405020304" pitchFamily="18" charset="0"/>
                <a:cs typeface="Times New Roman" panose="02020603050405020304" pitchFamily="18" charset="0"/>
              </a:rPr>
              <a:t>Web Application</a:t>
            </a:r>
            <a:br>
              <a:rPr lang="en-US" sz="5400" b="1" dirty="0" smtClean="0">
                <a:latin typeface="Times New Roman" panose="02020603050405020304" pitchFamily="18" charset="0"/>
                <a:cs typeface="Times New Roman" panose="02020603050405020304" pitchFamily="18" charset="0"/>
              </a:rPr>
            </a:br>
            <a:r>
              <a:rPr lang="en-US" b="1" dirty="0" smtClean="0">
                <a:latin typeface="Times New Roman" panose="02020603050405020304" pitchFamily="18" charset="0"/>
                <a:cs typeface="Times New Roman" panose="02020603050405020304" pitchFamily="18" charset="0"/>
              </a:rPr>
              <a:t>(Using Flask)</a:t>
            </a:r>
            <a:endParaRPr lang="en-US"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302"/>
            <a:ext cx="10515600" cy="861002"/>
          </a:xfrm>
        </p:spPr>
        <p:txBody>
          <a:bodyPr>
            <a:normAutofit/>
          </a:bodyPr>
          <a:lstStyle/>
          <a:p>
            <a:pPr algn="ctr"/>
            <a:r>
              <a:rPr lang="en-US" sz="4000" b="1" dirty="0" smtClean="0">
                <a:latin typeface="Times New Roman" panose="02020603050405020304" pitchFamily="18" charset="0"/>
                <a:cs typeface="Times New Roman" panose="02020603050405020304" pitchFamily="18" charset="0"/>
              </a:rPr>
              <a:t>Web Application</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30927" y="5663653"/>
            <a:ext cx="4682837" cy="498801"/>
          </a:xfrm>
        </p:spPr>
        <p:txBody>
          <a:bodyPr>
            <a:normAutofit/>
          </a:bodyPr>
          <a:lstStyle/>
          <a:p>
            <a:pPr marL="0" indent="0" algn="just">
              <a:spcBef>
                <a:spcPts val="0"/>
              </a:spcBef>
              <a:buClr>
                <a:schemeClr val="dk1"/>
              </a:buClr>
              <a:buSzPts val="2000"/>
              <a:buNone/>
            </a:pPr>
            <a:r>
              <a:rPr lang="en-US" sz="20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 Fig. 15: Front Page of the web application.</a:t>
            </a:r>
            <a:endParaRPr lang="en-US" sz="20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b="1"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smtClean="0">
                <a:latin typeface="Times New Roman" panose="02020603050405020304" pitchFamily="18" charset="0"/>
                <a:cs typeface="Times New Roman" panose="02020603050405020304" pitchFamily="18" charset="0"/>
              </a:rPr>
              <a:t>18</a:t>
            </a:r>
            <a:r>
              <a:rPr lang="en-US" sz="2400" dirty="0" smtClean="0">
                <a:latin typeface="Times New Roman" panose="02020603050405020304" pitchFamily="18" charset="0"/>
                <a:cs typeface="Times New Roman" panose="02020603050405020304" pitchFamily="18" charset="0"/>
              </a:rPr>
              <a:t>/20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6387" name="Picture 3" descr="7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01800" y="1151304"/>
            <a:ext cx="4237182" cy="4511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4" descr="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8344" y="1183229"/>
            <a:ext cx="4398666" cy="4569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p:cNvSpPr txBox="1"/>
          <p:nvPr/>
        </p:nvSpPr>
        <p:spPr>
          <a:xfrm>
            <a:off x="6598227" y="5612093"/>
            <a:ext cx="3929729" cy="6969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Clr>
                <a:schemeClr val="dk1"/>
              </a:buClr>
              <a:buSzPts val="2000"/>
              <a:buFont typeface="Arial" panose="020B0604020202020204" pitchFamily="34" charset="0"/>
              <a:buNone/>
            </a:pPr>
            <a:r>
              <a:rPr lang="en-US" sz="20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Fig. 16: Features requiring a realistic value.</a:t>
            </a:r>
            <a:endParaRPr lang="en-US" sz="20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US" sz="24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302"/>
            <a:ext cx="10515600" cy="861002"/>
          </a:xfrm>
        </p:spPr>
        <p:txBody>
          <a:bodyPr>
            <a:normAutofit/>
          </a:bodyPr>
          <a:lstStyle/>
          <a:p>
            <a:pPr algn="ctr"/>
            <a:r>
              <a:rPr lang="en-US" sz="4000" b="1" dirty="0" smtClean="0">
                <a:latin typeface="Times New Roman" panose="02020603050405020304" pitchFamily="18" charset="0"/>
                <a:cs typeface="Times New Roman" panose="02020603050405020304" pitchFamily="18" charset="0"/>
              </a:rPr>
              <a:t>Web Application</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508032" y="5856234"/>
            <a:ext cx="5175935" cy="498801"/>
          </a:xfrm>
        </p:spPr>
        <p:txBody>
          <a:bodyPr>
            <a:normAutofit/>
          </a:bodyPr>
          <a:lstStyle/>
          <a:p>
            <a:pPr marL="0" indent="0" algn="just">
              <a:spcBef>
                <a:spcPts val="0"/>
              </a:spcBef>
              <a:buClr>
                <a:schemeClr val="dk1"/>
              </a:buClr>
              <a:buSzPts val="2000"/>
              <a:buNone/>
            </a:pPr>
            <a:r>
              <a:rPr lang="en-US" sz="20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 Fig. 17: </a:t>
            </a:r>
            <a:r>
              <a:rPr lang="en-US" sz="2000" dirty="0">
                <a:solidFill>
                  <a:schemeClr val="dk1"/>
                </a:solidFill>
                <a:latin typeface="Times New Roman" panose="02020603050405020304" pitchFamily="18" charset="0"/>
                <a:cs typeface="Times New Roman" panose="02020603050405020304" pitchFamily="18" charset="0"/>
                <a:sym typeface="Times New Roman" panose="02020603050405020304"/>
              </a:rPr>
              <a:t>Prediction result in the web application.</a:t>
            </a: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b="1"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527957" y="6176963"/>
            <a:ext cx="825843" cy="4304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smtClean="0">
                <a:latin typeface="Times New Roman" panose="02020603050405020304" pitchFamily="18" charset="0"/>
                <a:cs typeface="Times New Roman" panose="02020603050405020304" pitchFamily="18" charset="0"/>
              </a:rPr>
              <a:t>19</a:t>
            </a:r>
            <a:r>
              <a:rPr lang="en-US" sz="2400" dirty="0" smtClean="0">
                <a:latin typeface="Times New Roman" panose="02020603050405020304" pitchFamily="18" charset="0"/>
                <a:cs typeface="Times New Roman" panose="02020603050405020304" pitchFamily="18" charset="0"/>
              </a:rPr>
              <a:t>/20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pic>
        <p:nvPicPr>
          <p:cNvPr id="17410" name="Picture 2" descr="7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77516" y="1151304"/>
            <a:ext cx="4236968" cy="4704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358"/>
            <a:ext cx="10515600" cy="1325563"/>
          </a:xfrm>
        </p:spPr>
        <p:txBody>
          <a:bodyPr/>
          <a:lstStyle/>
          <a:p>
            <a:pPr algn="ctr"/>
            <a:r>
              <a:rPr lang="en-US" b="1" dirty="0">
                <a:latin typeface="Times New Roman" panose="02020603050405020304" pitchFamily="18" charset="0"/>
                <a:cs typeface="Times New Roman" panose="02020603050405020304" pitchFamily="18" charset="0"/>
              </a:rPr>
              <a:t>Future </a:t>
            </a:r>
            <a:r>
              <a:rPr lang="en-US" b="1" dirty="0" smtClean="0">
                <a:latin typeface="Times New Roman" panose="02020603050405020304" pitchFamily="18" charset="0"/>
                <a:cs typeface="Times New Roman" panose="02020603050405020304" pitchFamily="18" charset="0"/>
              </a:rPr>
              <a:t>Work</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49650"/>
            <a:ext cx="10515600" cy="2074004"/>
          </a:xfrm>
        </p:spPr>
        <p:txBody>
          <a:bodyPr>
            <a:normAutofit/>
          </a:bodyPr>
          <a:lstStyle/>
          <a:p>
            <a:pPr marL="0" indent="0">
              <a:spcBef>
                <a:spcPts val="0"/>
              </a:spcBef>
              <a:spcAft>
                <a:spcPts val="1200"/>
              </a:spcAft>
              <a:buNone/>
            </a:pPr>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the future, the intention is to:</a:t>
            </a:r>
            <a:endParaRPr lang="en-US" sz="2400" dirty="0">
              <a:latin typeface="Times New Roman" panose="02020603050405020304" pitchFamily="18" charset="0"/>
              <a:cs typeface="Times New Roman" panose="02020603050405020304" pitchFamily="18" charset="0"/>
            </a:endParaRPr>
          </a:p>
          <a:p>
            <a:pPr lvl="0">
              <a:lnSpc>
                <a:spcPct val="100000"/>
              </a:lnSpc>
              <a:spcBef>
                <a:spcPts val="0"/>
              </a:spcBef>
              <a:spcAft>
                <a:spcPts val="600"/>
              </a:spcAft>
            </a:pPr>
            <a:r>
              <a:rPr lang="en-US" sz="2400" dirty="0">
                <a:latin typeface="Times New Roman" panose="02020603050405020304" pitchFamily="18" charset="0"/>
                <a:cs typeface="Times New Roman" panose="02020603050405020304" pitchFamily="18" charset="0"/>
              </a:rPr>
              <a:t>Work with a large dataset.</a:t>
            </a:r>
            <a:endParaRPr lang="en-US" sz="2400" dirty="0">
              <a:latin typeface="Times New Roman" panose="02020603050405020304" pitchFamily="18" charset="0"/>
              <a:cs typeface="Times New Roman" panose="02020603050405020304" pitchFamily="18" charset="0"/>
            </a:endParaRPr>
          </a:p>
          <a:p>
            <a:pPr lvl="0">
              <a:lnSpc>
                <a:spcPct val="100000"/>
              </a:lnSpc>
              <a:spcBef>
                <a:spcPts val="0"/>
              </a:spcBef>
              <a:spcAft>
                <a:spcPts val="600"/>
              </a:spcAft>
            </a:pPr>
            <a:r>
              <a:rPr lang="en-US" sz="2400" dirty="0">
                <a:latin typeface="Times New Roman" panose="02020603050405020304" pitchFamily="18" charset="0"/>
                <a:cs typeface="Times New Roman" panose="02020603050405020304" pitchFamily="18" charset="0"/>
              </a:rPr>
              <a:t>Introduce more models and feature engineering techniques.</a:t>
            </a:r>
            <a:endParaRPr lang="en-US" sz="2400" dirty="0">
              <a:latin typeface="Times New Roman" panose="02020603050405020304" pitchFamily="18" charset="0"/>
              <a:cs typeface="Times New Roman" panose="02020603050405020304" pitchFamily="18" charset="0"/>
            </a:endParaRPr>
          </a:p>
          <a:p>
            <a:pPr lvl="0">
              <a:lnSpc>
                <a:spcPct val="100000"/>
              </a:lnSpc>
              <a:spcBef>
                <a:spcPts val="0"/>
              </a:spcBef>
              <a:spcAft>
                <a:spcPts val="600"/>
              </a:spcAft>
            </a:pPr>
            <a:r>
              <a:rPr lang="en-US" sz="2400" dirty="0">
                <a:latin typeface="Times New Roman" panose="02020603050405020304" pitchFamily="18" charset="0"/>
                <a:cs typeface="Times New Roman" panose="02020603050405020304" pitchFamily="18" charset="0"/>
              </a:rPr>
              <a:t>Focus on improving the overall accuracy.</a:t>
            </a:r>
            <a:endParaRPr lang="en-US" sz="2400" dirty="0">
              <a:latin typeface="Times New Roman" panose="02020603050405020304" pitchFamily="18" charset="0"/>
              <a:cs typeface="Times New Roman" panose="02020603050405020304" pitchFamily="18" charset="0"/>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None/>
            </a:pP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b="1" dirty="0" smtClean="0">
              <a:latin typeface="Times New Roman" panose="02020603050405020304" pitchFamily="18" charset="0"/>
              <a:cs typeface="Times New Roman" panose="02020603050405020304" pitchFamily="18" charset="0"/>
            </a:endParaRPr>
          </a:p>
        </p:txBody>
      </p:sp>
      <p:sp>
        <p:nvSpPr>
          <p:cNvPr id="4" name="Subtitle 2"/>
          <p:cNvSpPr txBox="1"/>
          <p:nvPr/>
        </p:nvSpPr>
        <p:spPr>
          <a:xfrm>
            <a:off x="10808043" y="6161773"/>
            <a:ext cx="825843" cy="4304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dirty="0" smtClean="0">
                <a:latin typeface="Times New Roman" panose="02020603050405020304" pitchFamily="18" charset="0"/>
                <a:cs typeface="Times New Roman" panose="02020603050405020304" pitchFamily="18" charset="0"/>
              </a:rPr>
              <a:t>20/20</a:t>
            </a:r>
            <a:endParaRPr lang="en-US" sz="2400" dirty="0">
              <a:solidFill>
                <a:prstClr val="black"/>
              </a:solidFill>
              <a:latin typeface="Times New Roman" panose="02020603050405020304" pitchFamily="18" charset="0"/>
              <a:cs typeface="Times New Roman" panose="02020603050405020304" pitchFamily="18" charset="0"/>
            </a:endParaRPr>
          </a:p>
          <a:p>
            <a:pPr marL="0" indent="0" algn="r">
              <a:buFont typeface="Arial" panose="020B0604020202020204" pitchFamily="34" charset="0"/>
              <a:buNone/>
            </a:pP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5" name="Title 1"/>
          <p:cNvSpPr txBox="1"/>
          <p:nvPr/>
        </p:nvSpPr>
        <p:spPr>
          <a:xfrm>
            <a:off x="838200" y="3334394"/>
            <a:ext cx="10515600" cy="7515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latin typeface="Times New Roman" panose="02020603050405020304" pitchFamily="18" charset="0"/>
                <a:cs typeface="Times New Roman" panose="02020603050405020304" pitchFamily="18" charset="0"/>
              </a:rPr>
              <a:t>Conclusion</a:t>
            </a:r>
            <a:endParaRPr lang="en-US" b="1" dirty="0">
              <a:latin typeface="Times New Roman" panose="02020603050405020304" pitchFamily="18" charset="0"/>
              <a:cs typeface="Times New Roman" panose="02020603050405020304" pitchFamily="18" charset="0"/>
            </a:endParaRPr>
          </a:p>
        </p:txBody>
      </p:sp>
      <p:sp>
        <p:nvSpPr>
          <p:cNvPr id="6" name="Content Placeholder 2"/>
          <p:cNvSpPr txBox="1"/>
          <p:nvPr/>
        </p:nvSpPr>
        <p:spPr>
          <a:xfrm>
            <a:off x="838200" y="4085968"/>
            <a:ext cx="10515600" cy="201003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spcBef>
                <a:spcPts val="400"/>
              </a:spcBef>
              <a:spcAft>
                <a:spcPts val="400"/>
              </a:spcAft>
              <a:buClr>
                <a:schemeClr val="dk1"/>
              </a:buClr>
              <a:buSzPts val="2000"/>
              <a:buFont typeface="Arial" panose="020B0604020202020204" pitchFamily="34" charset="0"/>
              <a:buNone/>
            </a:pPr>
            <a:r>
              <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rPr>
              <a:t>This project focuses on creating a crop recommendation system using Python and machine learning to help farmers choose the best crops for their land. By analyzing soil quality, weather, and other environmental factors, it offers personalized, data-driven advice to boost productivity and reduce waste. The Flask-based platform empowers farmers to make smarter choices and improve their farming outcomes.</a:t>
            </a: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solidFill>
                <a:schemeClr val="dk1"/>
              </a:solidFill>
              <a:latin typeface="Times New Roman" panose="02020603050405020304" pitchFamily="18" charset="0"/>
              <a:cs typeface="Times New Roman" panose="02020603050405020304" pitchFamily="18" charset="0"/>
              <a:sym typeface="Times New Roman" panose="02020603050405020304"/>
            </a:endParaRPr>
          </a:p>
          <a:p>
            <a:pPr marL="0" indent="0" algn="just">
              <a:spcBef>
                <a:spcPts val="0"/>
              </a:spcBef>
              <a:buClr>
                <a:schemeClr val="dk1"/>
              </a:buClr>
              <a:buSzPts val="2000"/>
              <a:buFont typeface="Arial" panose="020B0604020202020204" pitchFamily="34" charset="0"/>
              <a:buNone/>
            </a:pPr>
            <a:endParaRPr lang="en-US" sz="2400" dirty="0" smtClean="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US" sz="24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670"/>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Thank You For Patiently Watching My Presentation</a:t>
            </a:r>
            <a:endParaRPr lang="en-US"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5340</Words>
  <Application>WPS Presentation</Application>
  <PresentationFormat>Widescreen</PresentationFormat>
  <Paragraphs>555</Paragraphs>
  <Slides>26</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26</vt:i4>
      </vt:variant>
    </vt:vector>
  </HeadingPairs>
  <TitlesOfParts>
    <vt:vector size="41" baseType="lpstr">
      <vt:lpstr>Arial</vt:lpstr>
      <vt:lpstr>SimSun</vt:lpstr>
      <vt:lpstr>Wingdings</vt:lpstr>
      <vt:lpstr>Times New Roman</vt:lpstr>
      <vt:lpstr>Calibri</vt:lpstr>
      <vt:lpstr>Calibri</vt:lpstr>
      <vt:lpstr>Wingdings 3</vt:lpstr>
      <vt:lpstr>Times New Roman</vt:lpstr>
      <vt:lpstr>Calibri Light</vt:lpstr>
      <vt:lpstr>Microsoft YaHei</vt:lpstr>
      <vt:lpstr>Arial Unicode MS</vt:lpstr>
      <vt:lpstr>Vrinda</vt:lpstr>
      <vt:lpstr>Segoe Print</vt:lpstr>
      <vt:lpstr>Office Theme</vt:lpstr>
      <vt:lpstr>1_Office Theme</vt:lpstr>
      <vt:lpstr>PowerPoint 演示文稿</vt:lpstr>
      <vt:lpstr>Overview</vt:lpstr>
      <vt:lpstr>Introduction</vt:lpstr>
      <vt:lpstr>Objectives</vt:lpstr>
      <vt:lpstr>Proposed Methodology</vt:lpstr>
      <vt:lpstr>Block Diagram Showing the Overall Methodology</vt:lpstr>
      <vt:lpstr>Dataset</vt:lpstr>
      <vt:lpstr>Data Frame of the Dataset</vt:lpstr>
      <vt:lpstr>Data Preprocessing</vt:lpstr>
      <vt:lpstr>Visualizing Missing Data</vt:lpstr>
      <vt:lpstr>Feature Analysis Using Histogram</vt:lpstr>
      <vt:lpstr>Encoding Target Column “label”</vt:lpstr>
      <vt:lpstr>Feature Analysis (Correlation Matrix)</vt:lpstr>
      <vt:lpstr>Model Training &amp; Result Analysis</vt:lpstr>
      <vt:lpstr>Logistic Regression Model Performance Analysis</vt:lpstr>
      <vt:lpstr>K-Nearest Neighbors (KNN) Model Performance Analysis</vt:lpstr>
      <vt:lpstr>Gaussian Naïve Bayes Model Performance Analysis</vt:lpstr>
      <vt:lpstr>Support Vector Machine (SVM) Model Performance Analysis</vt:lpstr>
      <vt:lpstr>Decision Tree Model Performance Analysis</vt:lpstr>
      <vt:lpstr>Random Forest Model Performance Analysis</vt:lpstr>
      <vt:lpstr>Model Accuracy Comparison</vt:lpstr>
      <vt:lpstr>Web Application (Using Flask)</vt:lpstr>
      <vt:lpstr>Web Application</vt:lpstr>
      <vt:lpstr>Web Application</vt:lpstr>
      <vt:lpstr>Future Work</vt:lpstr>
      <vt:lpstr>Thank You For Patiently Watching My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Avijit</dc:creator>
  <cp:lastModifiedBy>Tipti Sarker</cp:lastModifiedBy>
  <cp:revision>203</cp:revision>
  <dcterms:created xsi:type="dcterms:W3CDTF">2025-06-14T08:11:00Z</dcterms:created>
  <dcterms:modified xsi:type="dcterms:W3CDTF">2025-11-09T18:34:57Z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666A8B7507274C8D808D34CFFC6C3F14_12</vt:lpwstr>
  </property>
  <property fmtid="{D5CDD505-2E9C-101B-9397-08002B2CF9AE}" pid="3" name="KSOProductBuildVer">
    <vt:lpwstr>1033-12.2.0.23155</vt:lpwstr>
  </property>
</Properties>
</file>